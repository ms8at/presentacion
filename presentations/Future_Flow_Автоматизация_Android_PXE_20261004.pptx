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104cf3f0f244e2" /><Relationship Type="http://schemas.openxmlformats.org/officeDocument/2006/relationships/extended-properties" Target="/docProps/app.xml" Id="R7371606f30834a98" /><Relationship Type="http://schemas.openxmlformats.org/officeDocument/2006/relationships/officeDocument" Target="/ppt/presentation.xml" Id="Rce60b6c37c704e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aca687efb344bb"/>
  </p:sldMasterIdLst>
  <p:notesMasterIdLst>
    <p:notesMasterId xmlns:r="http://schemas.openxmlformats.org/officeDocument/2006/relationships" r:id="Re71d69b701114d45"/>
  </p:notesMasterIdLst>
  <p:sldIdLst>
    <p:sldId xmlns:r="http://schemas.openxmlformats.org/officeDocument/2006/relationships" id="256" r:id="R96700727c58e41e4"/>
    <p:sldId xmlns:r="http://schemas.openxmlformats.org/officeDocument/2006/relationships" id="257" r:id="Re6b1109c2819450c"/>
    <p:sldId xmlns:r="http://schemas.openxmlformats.org/officeDocument/2006/relationships" id="258" r:id="R59374eae86cd4a04"/>
    <p:sldId xmlns:r="http://schemas.openxmlformats.org/officeDocument/2006/relationships" id="259" r:id="R2e98b1fb5f184bae"/>
    <p:sldId xmlns:r="http://schemas.openxmlformats.org/officeDocument/2006/relationships" id="260" r:id="R4aeb4714b1164e9c"/>
    <p:sldId xmlns:r="http://schemas.openxmlformats.org/officeDocument/2006/relationships" id="261" r:id="R1ee4bf709d3842f4"/>
    <p:sldId xmlns:r="http://schemas.openxmlformats.org/officeDocument/2006/relationships" id="262" r:id="Rd7e5e56c8a5d4fb9"/>
    <p:sldId xmlns:r="http://schemas.openxmlformats.org/officeDocument/2006/relationships" id="263" r:id="Rd304de8294b24832"/>
    <p:sldId xmlns:r="http://schemas.openxmlformats.org/officeDocument/2006/relationships" id="264" r:id="Rcb4ffe73cfc7463f"/>
    <p:sldId xmlns:r="http://schemas.openxmlformats.org/officeDocument/2006/relationships" id="265" r:id="Rde785e734a964cfd"/>
    <p:sldId xmlns:r="http://schemas.openxmlformats.org/officeDocument/2006/relationships" id="266" r:id="R0a7cc7b1219e42da"/>
    <p:sldId xmlns:r="http://schemas.openxmlformats.org/officeDocument/2006/relationships" id="267" r:id="R5b58d487a54e463d"/>
    <p:sldId xmlns:r="http://schemas.openxmlformats.org/officeDocument/2006/relationships" id="268" r:id="Raff635bb598b4778"/>
    <p:sldId xmlns:r="http://schemas.openxmlformats.org/officeDocument/2006/relationships" id="269" r:id="R456d0522a4eb4a7d"/>
    <p:sldId xmlns:r="http://schemas.openxmlformats.org/officeDocument/2006/relationships" id="270" r:id="Ra524df1f7a094c6e"/>
    <p:sldId xmlns:r="http://schemas.openxmlformats.org/officeDocument/2006/relationships" id="271" r:id="Ref91f915b28e4189"/>
    <p:sldId xmlns:r="http://schemas.openxmlformats.org/officeDocument/2006/relationships" id="272" r:id="R1313836913ff45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98683591714fe6" /><Relationship Type="http://schemas.openxmlformats.org/officeDocument/2006/relationships/slideMaster" Target="/ppt/slideMasters/slideMaster1.xml" Id="R10aca687efb344bb" /><Relationship Type="http://schemas.openxmlformats.org/officeDocument/2006/relationships/notesMaster" Target="/ppt/notesMasters/notesMaster1.xml" Id="Re71d69b701114d45" /><Relationship Type="http://schemas.openxmlformats.org/officeDocument/2006/relationships/presProps" Target="/ppt/presProps.xml" Id="Re1afe8e794614a6b" /><Relationship Type="http://schemas.openxmlformats.org/officeDocument/2006/relationships/tableStyles" Target="/ppt/tableStyles.xml" Id="R944755eb6338401e" /><Relationship Type="http://schemas.openxmlformats.org/officeDocument/2006/relationships/slide" Target="/ppt/slides/slide1.xml" Id="R96700727c58e41e4" /><Relationship Type="http://schemas.openxmlformats.org/officeDocument/2006/relationships/slide" Target="/ppt/slides/slide2.xml" Id="Re6b1109c2819450c" /><Relationship Type="http://schemas.openxmlformats.org/officeDocument/2006/relationships/slide" Target="/ppt/slides/slide3.xml" Id="R59374eae86cd4a04" /><Relationship Type="http://schemas.openxmlformats.org/officeDocument/2006/relationships/slide" Target="/ppt/slides/slide4.xml" Id="R2e98b1fb5f184bae" /><Relationship Type="http://schemas.openxmlformats.org/officeDocument/2006/relationships/slide" Target="/ppt/slides/slide5.xml" Id="R4aeb4714b1164e9c" /><Relationship Type="http://schemas.openxmlformats.org/officeDocument/2006/relationships/slide" Target="/ppt/slides/slide6.xml" Id="R1ee4bf709d3842f4" /><Relationship Type="http://schemas.openxmlformats.org/officeDocument/2006/relationships/slide" Target="/ppt/slides/slide7.xml" Id="Rd7e5e56c8a5d4fb9" /><Relationship Type="http://schemas.openxmlformats.org/officeDocument/2006/relationships/slide" Target="/ppt/slides/slide8.xml" Id="Rd304de8294b24832" /><Relationship Type="http://schemas.openxmlformats.org/officeDocument/2006/relationships/slide" Target="/ppt/slides/slide9.xml" Id="Rcb4ffe73cfc7463f" /><Relationship Type="http://schemas.openxmlformats.org/officeDocument/2006/relationships/slide" Target="/ppt/slides/slide10.xml" Id="Rde785e734a964cfd" /><Relationship Type="http://schemas.openxmlformats.org/officeDocument/2006/relationships/slide" Target="/ppt/slides/slide11.xml" Id="R0a7cc7b1219e42da" /><Relationship Type="http://schemas.openxmlformats.org/officeDocument/2006/relationships/slide" Target="/ppt/slides/slide12.xml" Id="R5b58d487a54e463d" /><Relationship Type="http://schemas.openxmlformats.org/officeDocument/2006/relationships/slide" Target="/ppt/slides/slide13.xml" Id="Raff635bb598b4778" /><Relationship Type="http://schemas.openxmlformats.org/officeDocument/2006/relationships/slide" Target="/ppt/slides/slide14.xml" Id="R456d0522a4eb4a7d" /><Relationship Type="http://schemas.openxmlformats.org/officeDocument/2006/relationships/slide" Target="/ppt/slides/slide15.xml" Id="Ra524df1f7a094c6e" /><Relationship Type="http://schemas.openxmlformats.org/officeDocument/2006/relationships/slide" Target="/ppt/slides/slide16.xml" Id="Ref91f915b28e4189" /><Relationship Type="http://schemas.openxmlformats.org/officeDocument/2006/relationships/slide" Target="/ppt/slides/slide17.xml" Id="R1313836913ff45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e5c5e617984e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d5fae288ff4e46" /><Relationship Type="http://schemas.openxmlformats.org/officeDocument/2006/relationships/notesMaster" Target="/ppt/notesMasters/notesMaster1.xml" Id="Rdb1906b79ce04d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ed1d55f46b477a" /><Relationship Type="http://schemas.openxmlformats.org/officeDocument/2006/relationships/notesMaster" Target="/ppt/notesMasters/notesMaster1.xml" Id="Rc68ba16d6ed343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ce2e3cce1b4f18" /><Relationship Type="http://schemas.openxmlformats.org/officeDocument/2006/relationships/notesMaster" Target="/ppt/notesMasters/notesMaster1.xml" Id="R54b424eddd1c4f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1a4e1c14ab4757" /><Relationship Type="http://schemas.openxmlformats.org/officeDocument/2006/relationships/notesMaster" Target="/ppt/notesMasters/notesMaster1.xml" Id="R5094b385c6af4b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df7815ff6c4c15" /><Relationship Type="http://schemas.openxmlformats.org/officeDocument/2006/relationships/notesMaster" Target="/ppt/notesMasters/notesMaster1.xml" Id="R78c188975f9840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2fd1dd768e4df7" /><Relationship Type="http://schemas.openxmlformats.org/officeDocument/2006/relationships/notesMaster" Target="/ppt/notesMasters/notesMaster1.xml" Id="Re5a0caf8852546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90ff6de16f49bf" /><Relationship Type="http://schemas.openxmlformats.org/officeDocument/2006/relationships/notesMaster" Target="/ppt/notesMasters/notesMaster1.xml" Id="Ra4dbef246aed42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4840f794d64b51" /><Relationship Type="http://schemas.openxmlformats.org/officeDocument/2006/relationships/notesMaster" Target="/ppt/notesMasters/notesMaster1.xml" Id="R1e4bcd23fcb747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b59b5be4cb4466" /><Relationship Type="http://schemas.openxmlformats.org/officeDocument/2006/relationships/notesMaster" Target="/ppt/notesMasters/notesMaster1.xml" Id="R672c82ef836e4a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688c2b9a91433c" /><Relationship Type="http://schemas.openxmlformats.org/officeDocument/2006/relationships/notesMaster" Target="/ppt/notesMasters/notesMaster1.xml" Id="R08762bbbc3a545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5cbcb4bb004ed3" /><Relationship Type="http://schemas.openxmlformats.org/officeDocument/2006/relationships/notesMaster" Target="/ppt/notesMasters/notesMaster1.xml" Id="R884c155d1bd14e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28d0baf7d64bea" /><Relationship Type="http://schemas.openxmlformats.org/officeDocument/2006/relationships/notesMaster" Target="/ppt/notesMasters/notesMaster1.xml" Id="Re42a658d26d240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b032510d154d79" /><Relationship Type="http://schemas.openxmlformats.org/officeDocument/2006/relationships/notesMaster" Target="/ppt/notesMasters/notesMaster1.xml" Id="R6459d34b61bf40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c41cb5f7404503" /><Relationship Type="http://schemas.openxmlformats.org/officeDocument/2006/relationships/notesMaster" Target="/ppt/notesMasters/notesMaster1.xml" Id="Rfb816e164b1741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c3c7b284fbf4e63" /><Relationship Type="http://schemas.openxmlformats.org/officeDocument/2006/relationships/notesMaster" Target="/ppt/notesMasters/notesMaster1.xml" Id="R11cb2c88b00a4c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570b0fcd424f57" /><Relationship Type="http://schemas.openxmlformats.org/officeDocument/2006/relationships/notesMaster" Target="/ppt/notesMasters/notesMaster1.xml" Id="R10e4fde96f1e4f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58cb90e1824920" /><Relationship Type="http://schemas.openxmlformats.org/officeDocument/2006/relationships/notesMaster" Target="/ppt/notesMasters/notesMaster1.xml" Id="R2e02b9b21d154d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Открытие, 35–45 секунд. Мир меняется с огромной скоростью. Сегодня выигрывает не тот, у кого больше данных, а тот, кто быстрее превращает достоверную информацию в действие и прибыль. Мы предлагаем не отдельный компьютер и не модное слово «ИИ». Мы предлагаем связать склады, торговые точки, сотрудников, терминалы и оборудование в один управляемый контур. Цель — увеличить производительность и качество работы той же команды.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Изображение создано ИИ специально для презентации; это концепт, а не фотография действующего объекта. Визуальный стиль вдохновлён современными футуристическими pitch deck: https://slidesgo.com/theme/futuristic-tech-pitch-deck и https://www.behance.net/gallery/250361117/Savant-Brand-Identity-Pitch-Deck-Presentation, просмотрено 03.10.2026.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Начинаем с экономики. У реселлера деньги теряются в четырёх местах: сотрудники повторяют ручные операции, ошибки требуют переделки, товар есть в сети, но его трудно быстро найти и продать, оборудование или процесс простаивает без ясной причины. Автоматизация соединяет информацию и действие. Поэтому один и тот же сотрудник обрабатывает больше заказов, реже исправляет ошибки и быстрее обслуживает клиента. Мы не закладываем увольнение людей как источник выгоды. Денежный эффект появляется через дополнительный объём продаж, предотвращённый найм, меньше переделок и меньше потерянных заказов.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иллюстративная структура потенциального эффекта, а не прогноз конкретной компании. За сто процентов принят весь ожидаемый эффект пилота. Пример распределения: сорок процентов — сокращение повторной ручной работы, двадцать пять — снижение ошибок и переделок, двадцать — меньше потерянных продаж из-за неактуальных остатков или медленной реакции, пятнадцать — меньше простоев и лишних перемещений. В пилоте эти доли заменяются фактическими измерениями заказчика. Все значения показаны в процентах, без цен и денежных сумм.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не предлагаем заменить сотрудников. Мы предлагаем изменить содержание их работы. Сегодня время уходит на поиск данных, перенос сведений, сверку нескольких систем и повторную подготовку документов. После внедрения система собирает контекст, готовит черновик и проверяет обязательные поля. Сотрудник подтверждает решение, общается с клиентом и разбирает исключения. Производительность растёт, а опыт людей становится частью правил и памяти системы.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бизнеса ИИ лучше объяснять без магии. Это набор моделей, правил, сценариев и проверок, который настраивают люди. Мы работаем по утверждённой документации, техническим паспортам и инструкциям заказчика. Гарантия относится к исполнению сценария: каждый обязательный шаг либо выполнен и подтверждён, либо процесс останавливается с указанием отклонения. ИИ не получает права самостоятельно менять регламент, придумывать новые правила или пропускать проверку. Правильность исходной инструкции подтверждает владелец процесса; система обеспечивает её воспроизводимое выполнение в заданных условиях.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программное сердце Future Flow, показанное простым языком. События приходят из магазина, склада, датчиков, документов и запросов сотрудников. Heart наблюдает состояние и свежесть сигналов. Task Manager привязывает задачу к правильному процессу и владельцу. Semantic Memory хранит фразы, контекст, время и происхождение знаний; Human Memory выдаёт только нужную порцию контекста. Analyst и специализированные агенты готовят решение. Jarvice даёт локальные вычисления и модели. Work Agent собирает факты, Autotester проверяет зарегистрированные сценарии, Archivist сохраняет карту и доказательства. Dashboard показывает итог человеку и получает подтверждение.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Локальные источники: [local-source-reviewed]; c_AI_TASK_MANAGER/README.md; c_AI_SEMANTIC_MEMORY/README.md; c_HUMAN_MEMORY/README.md; c_AI_ANALYST/README.md; c_ai_autotester/README.md; c_WORK_AGENT/README.md; c_AI_ARCHIVIST/README.md. Некоторые модули находятся на разных стадиях готовности; слайд описывает целевую интеграционную архитектуру, а не утверждает, что весь контур уже развёрнут у заказчика.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важно показать разделение ответственности. Владелец процесса утверждает инструкцию и критерии. Task Manager назначает исполнителя. Агент или программа выполняет только свой участок. Work Agent собирает факты выполнения. Autotester и независимый проверяющий подтверждают сценарий. Archivist сохраняет карту, версию и доказательства. Heart сообщает, если сигнал устарел, задача остановилась или подтверждение отсутствует. Dashboard возвращает итог человеку. Такая структура снижает риск, что один и тот же компонент сам себе поставил задачу, сам выполнил и сам объявил успех.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Semantic Memory — не просто архив документов. Она хранит исходные фразы, смысловые признаки, время, автора и происхождение записи. Поиск возвращает не только совпадение, но и причину, почему оно найдено. Human Memory берёт из большого хранилища маленький пакет, который нужен для конкретной задачи, сохраняя ссылки на источники и отмечая, чего не хватает. Это позволяет использовать опыт сотрудников и прошлых операций, не загружая модель всем массивом данных и не превращая найденный текст в автоматическую команду.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[local-source-reviewed] и [local-source-reviewed] прочитано 03.10.2026. Иллюстрация создана ИИ специально для презентации; это концепт.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 партнёра склады и магазины работают одновременно, поэтому автоматизация должна видеть всю цепочку. Заказ клиента проверяется по реальному остатку. Товар резервируется по утверждённому правилу. Склад получает задачу на комплектацию. Магазин видит статус и готовность. Продажа, выдача или возврат оставляют подтверждённый след. Руководитель видит отклонения и показатели. Учётная система остаётся источником истины по товару; Future Flow связывает процессы, людей и оборудование вокруг неё.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реальный инженерный контур команды Future Flow. Панель управления показывает состояние объектов, сервер обрабатывает команды, защищённый канал передаёт их контроллеру, а устройство возвращает подтверждение. На фотографии — экспериментальный стенд Future/IC WDT Tester. Это не означает готовую складскую интеграцию, но подтверждает, что команда уже работает с цепочкой «интерфейс — сервер — контроллер — физическое устройство — обратная связь».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[local-source-reviewed]; [local-source-reviewed]; фото [local-source-reviewed] Состояние исходников и физическая приёмка — разные доказательства.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Экономия начинается с программного контура. Future Flow хранит утверждённый Android-профиль централизованно и подаёт его по PXE через MikroTik.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каждом совместимом компьютере не требуется покупать отдельную коммерческую ОС и устанавливать платный агент удалённого управления. Нужные приложения входят в подготовленный профиль.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не означает, что любое стороннее ПО бесплатно: лицензии выбранных приложений и совместимость оборудования проверяются перед поставкой.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Проект Android_PXE_MikroTik на 4 октября 2026 года подтверждает сборку DeviceTest 1.10 и генерацию пяти PXE-меню. Физическая загрузка Android 13 и текущее состояние RouterOS в этом переносе пока имеют статус NOT_RUN.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[local-source-reviewed] и CURRENT_STATE.md.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существующий демонстрационный сценарий Future Flow. На рабочем месте оператора используется моноблок; камера даёт обзор подключённого оборудования и считывает QR-коды; внешний модуль передаёт экран и команды выбранного компьютера; аппаратный выключатель позволяет немедленно остановить автоматическое управление. При подключении платёжного оборудования терминал выполняет утверждённый сценарий оплаты. Оператор может подключиться к разрешённому компьютеру, посмотреть его состояние, выполнить разрешённый сброс и наблюдать загрузку. Управляемый компьютер остаётся обычным компьютером, и дополнительная программа управления на него не устанавливается. Наличие оборудования подтверждено владельцем проекта; перед показом фиксируются точная комплектация и проверенный сценарий. Изображение на слайде — визуальный концепт стенда, а не фотография.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Следующий шаг — адаптировать инженерный контур Future Flow под реселлера. В интерфейсе будут склады, торговые точки, терминалы, датчики и их статусы. Руководитель увидит, где товар, что ожидает подтверждения и где возникло отклонение. Мы не меняли исходные действующие проекты в рамках презентации; это визуальный концепт будущего стенда. Изображение создано ИИ и не является скриншотом действующей системы.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Jarvice — локальный вычислительный центр в офисе или инфраструктуре заказчика. На нём размещаются внутренние сервисы, база знаний и локальные модели ИИ. Графические ускорители подбираются по модели и нагрузке. Управление рабочими процессами может выполняться без подключения к интернету. Для обновлений предусматривается отдельное контролируемое окно с проверкой пакетов и возможностью отката. Такая архитектура снижает внешнюю поверхность риска, но всё равно требует контроля прав, носителей, обновлений и резервного копирования.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продукта: https://ms8at.by/en/jarvice/jarvice.html, просмотрено 03.10.2026. Фото: [local-source-reviewed] Программный [local-source-reviewed] — отдельный экспериментальный контур; не выдавать его за полностью активированный production dispatch.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Flow собирается как продуктовая система. Retail Terminal — рабочее место продавца. Warehouse Node — локальный узел склада. Sensor Kit фиксирует состояние среды и оборудования. Control Module подключает обычные компьютеры без установки программы управления. Jarvice Core запускает внутренние сервисы и локальные модели. Operator Station даёт человеку единое место наблюдения и вмешательства. Конкретная комплектация каждого продукта фиксируется в спецификации и проверяется перед демонстрацией или поставкой. Изображение — концепт продуктовой линейки.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Производство может быть организовано в Беларуси или Китае. Беларусь подходит для локальной комплектации, настройки, документов и сервиса. Китай даёт масштаб серийного производства; по информации инициатора проекта, партнёрские мощности могут выпускать тысячи компьютеров в день. Эта цифра относится к потенциалу производства, а доступная квота под конкретную модель и партию подтверждается отдельно. Ориентир производства и доставки — около месяца, но срок зависит от состава, объёма, компонентов, логистики и оформления. Денежные цены в презентации не приводятся.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Сайт https://ms8at.by/index.html подтверждает работу с партнёрами и производителями в Беларуси и Китае, просмотрено 03.10.2026. Производственная мощность и срок — информация инициатора проекта, требуют фиксации в договоре.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Закрываем встречу конкретным предложением. Не начинаем со всей сети. Выбираем одну цепочку, например: запрос клиента — проверка остатка — резерв — комплектация — выдача. Сначала фиксируем исходные показатели. Затем настраиваем сценарий, права, оборудование и обучение. После пилота сравниваем скорость, качество, ошибки и число выполненных заказов. Расширение происходит только по подтверждённым процентам. Первый совместный шаг — рабочая встреча с владельцем склада, продаж и учётной системы, чтобы выбрать процесс и критерии результата.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8ffa23cdb14a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ac552b8cc14b54" /><Relationship Type="http://schemas.openxmlformats.org/officeDocument/2006/relationships/slideLayout" Target="/ppt/slideLayouts/slideLayout1.xml" Id="R01fb7c71cb6247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fb7c71cb6247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362846c944fd0" /><Relationship Type="http://schemas.openxmlformats.org/officeDocument/2006/relationships/image" Target="/ppt/media/image.png" Id="Rf4624178ca5e4519" /><Relationship Type="http://schemas.openxmlformats.org/officeDocument/2006/relationships/notesSlide" Target="/ppt/notesSlides/notesSlide1.xml" Id="Rd6aca8b00a6c48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97364a8e944a7" /><Relationship Type="http://schemas.openxmlformats.org/officeDocument/2006/relationships/notesSlide" Target="/ppt/notesSlides/notesSlide2.xml" Id="R94e80ffe145644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1e25519dc4cbc" /><Relationship Type="http://schemas.openxmlformats.org/officeDocument/2006/relationships/chart" Target="/ppt/slides/charts/chart1.xml" Id="Rba234d6119c74b8d" /><Relationship Type="http://schemas.openxmlformats.org/officeDocument/2006/relationships/notesSlide" Target="/ppt/notesSlides/notesSlide3.xml" Id="R50663720890243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7b29caa9d4e46" /><Relationship Type="http://schemas.openxmlformats.org/officeDocument/2006/relationships/notesSlide" Target="/ppt/notesSlides/notesSlide4.xml" Id="Rd02702f4092c4b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80336f6ff4f84" /><Relationship Type="http://schemas.openxmlformats.org/officeDocument/2006/relationships/notesSlide" Target="/ppt/notesSlides/notesSlide5.xml" Id="R5aa161d429bd4a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60cd461104f4e" /><Relationship Type="http://schemas.openxmlformats.org/officeDocument/2006/relationships/notesSlide" Target="/ppt/notesSlides/notesSlide6.xml" Id="R2a6564d9e1ae40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d366c99d44000" /><Relationship Type="http://schemas.openxmlformats.org/officeDocument/2006/relationships/notesSlide" Target="/ppt/notesSlides/notesSlide7.xml" Id="R778f4ed3575a43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465619408406a" /><Relationship Type="http://schemas.openxmlformats.org/officeDocument/2006/relationships/image" Target="/ppt/media/image2.png" Id="R38745021cc7948d6" /><Relationship Type="http://schemas.openxmlformats.org/officeDocument/2006/relationships/notesSlide" Target="/ppt/notesSlides/notesSlide8.xml" Id="R713e18810d9b4f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36241ac574f96" /><Relationship Type="http://schemas.openxmlformats.org/officeDocument/2006/relationships/notesSlide" Target="/ppt/notesSlides/notesSlide9.xml" Id="Re166976294f044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89eafff994f70" /><Relationship Type="http://schemas.openxmlformats.org/officeDocument/2006/relationships/image" Target="/ppt/media/image3.png" Id="R1f628faf01ac494e" /><Relationship Type="http://schemas.openxmlformats.org/officeDocument/2006/relationships/image" Target="/ppt/media/image.jpeg" Id="Rc16353a205064925" /><Relationship Type="http://schemas.openxmlformats.org/officeDocument/2006/relationships/notesSlide" Target="/ppt/notesSlides/notesSlide10.xml" Id="R9557f53cd2b647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2f15006cb4a0c" /><Relationship Type="http://schemas.openxmlformats.org/officeDocument/2006/relationships/notesSlide" Target="/ppt/notesSlides/notesSlide11.xml" Id="R30abc594781b48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24ad16c5b40cf" /><Relationship Type="http://schemas.openxmlformats.org/officeDocument/2006/relationships/image" Target="/ppt/media/image4.png" Id="Rbb6b83e49ea043db" /><Relationship Type="http://schemas.openxmlformats.org/officeDocument/2006/relationships/notesSlide" Target="/ppt/notesSlides/notesSlide12.xml" Id="R9e1d25482b8046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f226ee63e4aa7" /><Relationship Type="http://schemas.openxmlformats.org/officeDocument/2006/relationships/image" Target="/ppt/media/image5.png" Id="Rbd7ee32159ec403b" /><Relationship Type="http://schemas.openxmlformats.org/officeDocument/2006/relationships/notesSlide" Target="/ppt/notesSlides/notesSlide13.xml" Id="Rff3f0ab44e174b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296ffc37b4788" /><Relationship Type="http://schemas.openxmlformats.org/officeDocument/2006/relationships/image" Target="/ppt/media/image.bin" Id="Rc2c4dd7e68b34f5c" /><Relationship Type="http://schemas.openxmlformats.org/officeDocument/2006/relationships/notesSlide" Target="/ppt/notesSlides/notesSlide14.xml" Id="R21924c29d19341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94730e2074122" /><Relationship Type="http://schemas.openxmlformats.org/officeDocument/2006/relationships/image" Target="/ppt/media/image6.png" Id="Rfaaeb621e6354ea3" /><Relationship Type="http://schemas.openxmlformats.org/officeDocument/2006/relationships/notesSlide" Target="/ppt/notesSlides/notesSlide15.xml" Id="R961686fd57064d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3b1620e0b4ac8" /><Relationship Type="http://schemas.openxmlformats.org/officeDocument/2006/relationships/notesSlide" Target="/ppt/notesSlides/notesSlide16.xml" Id="R06b4100a3f7d41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911357b214846" /><Relationship Type="http://schemas.openxmlformats.org/officeDocument/2006/relationships/notesSlide" Target="/ppt/notesSlides/notesSlide17.xml" Id="R7fa4706fd102483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Доля эффекта, %</c:v>
          </c:tx>
          <c:spPr>
            <a:solidFill xmlns:a="http://schemas.openxmlformats.org/drawingml/2006/main">
              <a:srgbClr val="0E947D"/>
            </a:solidFill>
          </c:spPr>
          <c:cat>
            <c:strRef>
              <c:f>'Chart Data'!$A$2:$A$5</c:f>
              <c:strCache>
                <c:ptCount val="4"/>
                <c:pt idx="0">
                  <c:v>Рутинное время</c:v>
                </c:pt>
                <c:pt idx="1">
                  <c:v>Ошибки и переделки</c:v>
                </c:pt>
                <c:pt idx="2">
                  <c:v>Потерянные продажи</c:v>
                </c:pt>
                <c:pt idx="3">
                  <c:v>Простои и логистика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24178ca5e451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06984-36FC-4918-9428-9489DD43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FUTURE FLOW  •  MS8AT GLOBAL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60368-3208-41C9-8D6B-93D305D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533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Информация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превращается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 прибыль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071E3-4011-4DA4-8548-729440D0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533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Терминалы, склады, датчики, локальный ИИ</a:t>
            </a:r>
          </a:p>
          <a:p xmlns:a="http://schemas.openxmlformats.org/drawingml/2006/main">
            <a:pPr algn="l">
              <a:defRPr sz="202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и управление оборудованием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39605-D08B-4C7B-8F3F-6CC3A48E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futureflow.ms8at.by</a:t>
            </a:r>
          </a:p>
        </p:txBody>
      </p:sp>
    </p:spTree>
    <p:extLst>
      <p:ext uri="{BB962C8B-B14F-4D97-AF65-F5344CB8AC3E}">
        <p14:creationId xmlns:p14="http://schemas.microsoft.com/office/powerpoint/2010/main" val="12905709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F49F3-8299-4A14-96FE-E0D28627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Сначала — экономика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35262-67DB-43A4-B33F-91595C03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A2C41-62A3-4570-BBC9-AADF0F16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8042F-FDE1-4710-8378-A99FF80D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ЧЕТЫРЕ ИСТОЧНИКА РЕЗУЛЬТАТА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741C9-44A4-4B8C-8D9A-2415D3AB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2571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585D8-D4FF-46BE-8839-AB818C66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Больше продаж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25367-ECEF-474D-9375-ABBE48A3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228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Быстрее ответ клиенту, точнее наличие, меньше потерянных заказов.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459BD-EEFD-4F82-B4DB-876679E0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90700"/>
            <a:ext cx="2571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7423D-D007-4F91-A8E6-B8DEAD95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240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Меньше ошибок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1ED45-D0E2-4F0F-B7AD-3CE58EF5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24100"/>
            <a:ext cx="2228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Проверка обязательных шагов до выполнения и подтверждение результата.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4D6E5-DCAA-4BEC-8DD4-719EAF98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2571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63C94-0C9A-4882-90D6-CAECBE50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Выше оборот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4DB04-6580-4298-A59D-05CEDB77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2228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Единый контур склада и магазинов помогает быстрее перемещать товар.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D6363-AEE5-4374-A140-8C52CD5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90700"/>
            <a:ext cx="26670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31B59-FBCD-420A-B961-921FDB4B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240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Та же команда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FF9BE-E73B-412F-B966-175E0C5B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24100"/>
            <a:ext cx="232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Рутинные операции передаются системе, сотрудники работают с клиентом.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B4B1B-DB82-4520-8059-739AB535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11010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Главная цель: больше выполненной работы и выше качество — без замены команды.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B1BC8-360A-40DD-8F8B-E899256E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8C7D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8C7D7"/>
                </a:solidFill>
                <a:latin typeface="Arial"/>
                <a:ea typeface="Arial"/>
                <a:cs typeface="Arial"/>
              </a:rPr>
              <a:t>Результат пилота измеряется по фактическим данным компании.</a:t>
            </a:r>
          </a:p>
        </p:txBody>
      </p:sp>
    </p:spTree>
    <p:extLst>
      <p:ext uri="{BB962C8B-B14F-4D97-AF65-F5344CB8AC3E}">
        <p14:creationId xmlns:p14="http://schemas.microsoft.com/office/powerpoint/2010/main" val="1188043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64736-8068-46BE-A6C8-CE56A450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Откуда появляется экономический эффект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386C9-3208-4FB7-9F54-3707B2E1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A3188-AE7F-44F8-ADE5-BA09FA50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7853E-C4CF-49CA-A680-BECC7889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ИЛЛЮСТРАТИВНАЯ МОДЕЛЬ: 100% ПОТЕНЦИАЛЬНОГО ЭФФЕКТА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0550" y="1695450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234d6119c74b8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3717A-A015-424C-84CC-B8DF4E43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287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Доля эффекта,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1F4AE-7320-4BF8-8DE8-61587D56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3147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06162B"/>
          </a:solidFill>
          <a:ln xmlns:a="http://schemas.openxmlformats.org/drawingml/2006/main" w="9525">
            <a:solidFill>
              <a:srgbClr val="06162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18C74-C434-4637-BC7A-C3382BE2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A349A-22F4-4DCB-95A6-6DB1342B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весь эффект пилота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16382-17B7-44EB-9B31-C2B0F49B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5D1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5D1DD"/>
                </a:solidFill>
                <a:latin typeface="Arial"/>
                <a:ea typeface="Arial"/>
                <a:cs typeface="Arial"/>
              </a:rPr>
              <a:t>После замера</a:t>
            </a:r>
          </a:p>
          <a:p xmlns:a="http://schemas.openxmlformats.org/drawingml/2006/main">
            <a:pPr algn="ctr">
              <a:defRPr sz="1650" b="0">
                <a:solidFill>
                  <a:srgbClr val="B5D1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5D1DD"/>
                </a:solidFill>
                <a:latin typeface="Arial"/>
                <a:ea typeface="Arial"/>
                <a:cs typeface="Arial"/>
              </a:rPr>
              <a:t>проценты заменяются</a:t>
            </a:r>
          </a:p>
          <a:p xmlns:a="http://schemas.openxmlformats.org/drawingml/2006/main">
            <a:pPr algn="ctr">
              <a:defRPr sz="1650" b="0">
                <a:solidFill>
                  <a:srgbClr val="B5D1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5D1DD"/>
                </a:solidFill>
                <a:latin typeface="Arial"/>
                <a:ea typeface="Arial"/>
                <a:cs typeface="Arial"/>
              </a:rPr>
              <a:t>фактическими данными.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FFD45-0460-42CB-8CDE-72B0EF89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0"/>
            <a:ext cx="331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Эффект считается только после вычета новых расходов на поддержку и проверку.</a:t>
            </a:r>
          </a:p>
        </p:txBody>
      </p:sp>
    </p:spTree>
    <p:extLst>
      <p:ext uri="{BB962C8B-B14F-4D97-AF65-F5344CB8AC3E}">
        <p14:creationId xmlns:p14="http://schemas.microsoft.com/office/powerpoint/2010/main" val="633961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05193-B2FE-4265-92E8-238276F9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 же команда. Больше выполненной работы.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EF41D-7B8C-4EE4-AAA7-A170FA05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72CD5-1530-45E7-8334-21230F12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38DDF-41BA-46A9-8A75-82028A78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DB8C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DB8C7"/>
                </a:solidFill>
                <a:latin typeface="Arial"/>
                <a:ea typeface="Arial"/>
                <a:cs typeface="Arial"/>
              </a:rPr>
              <a:t>Сегодня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28C32-1421-453A-AACC-EAD0E217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287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После внедрения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92EB2-D7BB-4C2A-AA4D-010EF31F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4286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Поиск информации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Перенос данных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Ручная сверка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Повторные документы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7A657-F250-4E67-90D9-CEFADBCE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952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9FD7F-29D1-4AEF-8F39-01AA83F8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33600"/>
            <a:ext cx="4762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 решения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Работа с клиентом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Управление исключениями</a:t>
            </a:r>
          </a:p>
          <a:p xmlns:a="http://schemas.openxmlformats.org/drawingml/2006/main">
            <a: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Улучшение процесса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9EA62-6BB9-4F64-8398-5A4F135F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934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6D2D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6D2DE"/>
                </a:solidFill>
                <a:latin typeface="Arial"/>
                <a:ea typeface="Arial"/>
                <a:cs typeface="Arial"/>
              </a:rPr>
              <a:t>Опыт сотрудников не исчезает — он превращается в регламент, память и контроль качества.</a:t>
            </a:r>
          </a:p>
        </p:txBody>
      </p:sp>
    </p:spTree>
    <p:extLst>
      <p:ext uri="{BB962C8B-B14F-4D97-AF65-F5344CB8AC3E}">
        <p14:creationId xmlns:p14="http://schemas.microsoft.com/office/powerpoint/2010/main" val="19850143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438778-1D55-4655-9559-1B509A24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ИИ — управляемый сценарий, а не магия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B27EA-713A-475D-89AA-F265BE67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0D1A1-A708-4696-A4C0-8B2578F0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C004B-1510-460B-81E3-490BDEBB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100% ОБЯЗАТЕЛЬНЫХ ШАГОВ ПОД КОНТРОЛЕМ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FD7BA-372C-4FB4-AC19-AEF79EA4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333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87AAF-FBF4-4621-8AC9-C6FF17DF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Документация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F2A67-F474-43A1-913B-44233075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99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Инструкции, паспорта, регламенты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3904C-05F5-4254-A3DA-6BF460C0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4898F-9259-45F3-A6F1-2F02FBAE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333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73351-0CE6-408D-911D-57D82238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288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12E7D-2DC5-4B7D-AEF3-728768F0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28900"/>
            <a:ext cx="199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Правила, роли, запреты, условия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F0BDE-12F2-4F2B-AD00-B9E846A7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90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71DA1-4BA9-48B4-82A8-483E057C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333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39429-DEF5-4933-8B97-C35878D2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288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Исполнение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C4CFC-B095-4F01-98D0-90A36E6E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28900"/>
            <a:ext cx="199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Только разрешённые действия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E6D68-3CF2-49C6-8921-04DF2F81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908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86DF0-1B58-49C3-9080-D14A3B02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95500"/>
            <a:ext cx="2333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6C4B8B-2D02-4B99-ADD7-8380D113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288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FC9F4-928D-4566-86C3-0DA88D28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28900"/>
            <a:ext cx="19907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Фактический результат и след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D3D2E-8376-47EA-AFC4-BB5D6FE5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11010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6162B"/>
          </a:solidFill>
          <a:ln xmlns:a="http://schemas.openxmlformats.org/drawingml/2006/main" w="9525">
            <a:solidFill>
              <a:srgbClr val="06162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81484-1416-4A6C-ABB6-C9DF6F2C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1040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Если шаг нельзя подтвердить — система останавливается и сообщает об отклонении.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51FFA8-1F71-4479-954B-1F37E302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ИИ анализирует и предлагает. Регламент и контроль определяют действие.</a:t>
            </a:r>
          </a:p>
        </p:txBody>
      </p:sp>
    </p:spTree>
    <p:extLst>
      <p:ext uri="{BB962C8B-B14F-4D97-AF65-F5344CB8AC3E}">
        <p14:creationId xmlns:p14="http://schemas.microsoft.com/office/powerpoint/2010/main" val="1331289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B7440E-2B16-47BF-9748-F4541812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Программное сердце Future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9FC45-7AF0-4A34-BC74-E5107981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64995-FC5E-466C-A24A-805A0D61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1369E-6A12-4F31-A496-D5770DFB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ОДИН ПУТЬ ОТ СИГНАЛА ДО ПОДТВЕРЖДЁННОГО РЕЗУЛЬТАТА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7EF13-F25A-4A3A-8CA8-EDD32937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491D3-28E6-465E-845D-28A2CD65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События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46186-1C91-4D0D-BF7C-1A2A6F99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магазин • склад • датчики • документы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C7652-9393-4C4B-AEEF-B1B347DD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9621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B7D38-7BE9-4230-9643-5D70469F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9545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CCEF2-B287-4CA8-84B8-C664E5EB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2880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Heart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40CBC-74D9-44EB-93D2-F13C78C5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28850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наблюдает состояние и свежесть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FCF21-5C20-4532-BA0D-8A95F34F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621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1C970-CCCC-43F3-8ECE-DEE4B8A7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95450"/>
            <a:ext cx="4000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A3BC5-4346-4AC2-A537-CADC24D2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2880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Task Manager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22CD2-A2BE-4FDE-9AFC-8716DCFB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2885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назначает владельца и маршрут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7A2D0-67C4-4275-9D49-614AF399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3714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473AF-AB36-4A51-ABA1-49136A08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Semantic + Human 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147BC-9097-4056-8D68-BB0BE58F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контекст • время • происхождение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DDED3-3AF9-4ECB-88B2-1D66824C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528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2F3444-8D72-46B3-BEDB-9112EEAC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861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6D83B3-6547-4963-924F-7C9EDEC5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194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Analyst + агенты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78183-84EB-4311-A55F-D57E0495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195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готовят решение по правилам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C590C-D4DF-4A39-B19C-81774217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528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76AB8-2314-4534-8A8B-94F35781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8610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C8691-C36D-4FE5-B424-D4AF18E3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Jarvice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21411F-1D2E-4BA3-9D2F-C3A8C5F7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локальные модели и вычисления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B8F2D7-A58A-445D-9807-8AA97507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3714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6C32F6-21AA-435D-AE8F-6CF03C78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Work Agent + Autotester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18ECCF-16F0-42DE-99ED-F0106F8A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факты • тесты • независимая проверка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BBB18C-652C-438E-9C82-F8130556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7434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AB1D28-7763-4D5D-AE63-8696E076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5DA158-48A7-441B-BC45-495CE4C4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101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Archivist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9023CA-5464-49A1-8A47-D7FE635F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101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карта • история • доказательства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F6A8DE-106A-4BA0-A24F-26AAAE9C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434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D44527-7044-4391-80ED-B57B5354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323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27E389-C689-4246-8DA1-BC531438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101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Dashboard + человек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CE2C40-8AF3-4B2B-931A-22CD34E1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1015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решение • подтверждение • контроль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1C42B1-AD47-4B51-B73D-A9A207DA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1101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FCBD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FCBD7"/>
                </a:solidFill>
                <a:latin typeface="Arial"/>
                <a:ea typeface="Arial"/>
                <a:cs typeface="Arial"/>
              </a:rPr>
              <a:t>Каждый модуль отвечает за свою роль; права и проверки не смешиваются.</a:t>
            </a:r>
          </a:p>
        </p:txBody>
      </p:sp>
    </p:spTree>
    <p:extLst>
      <p:ext uri="{BB962C8B-B14F-4D97-AF65-F5344CB8AC3E}">
        <p14:creationId xmlns:p14="http://schemas.microsoft.com/office/powerpoint/2010/main" val="1046964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6E9434-F96D-496A-AFEA-871D566E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Кто назначает, выполняет, проверяет и архивирует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F53D3-50FA-4062-8E5D-D2C98272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66D55-29F6-4546-97B7-A8FE608C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B633C-FD92-4A07-B7F5-1A4FD91B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CA7D5-C273-40AC-A919-6C1AD1D3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7F4"/>
          </a:solidFill>
          <a:ln xmlns:a="http://schemas.openxmlformats.org/drawingml/2006/main" w="9525">
            <a:solidFill>
              <a:srgbClr val="27D7F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C8DC2-0D99-4461-878A-E0A6448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0DBA0-9D96-4062-A582-7AC29B06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Владелец процесса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82078-C929-4859-8CF0-CDADB357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Утверждает инструкцию и критерии результата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29EEB-AB3B-47D8-8F5E-CE84A393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42875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09A71-FE37-4290-BC42-7ABCCB9C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BFF"/>
          </a:solidFill>
          <a:ln xmlns:a="http://schemas.openxmlformats.org/drawingml/2006/main" w="9525">
            <a:solidFill>
              <a:srgbClr val="8F6B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51D4E-C6A7-4D11-B03A-29ABA3BF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4307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F6D269-B85F-438D-84BE-3161A0D7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002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Task Manager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FC65E-DA3F-4EA1-A71D-2885D48C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812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Назначает точный маршрут и ответственного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3BCB8-7C3A-4B5F-BABF-8C0B7A0A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61711B-CBD0-403A-8153-D01D6971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47D"/>
          </a:solidFill>
          <a:ln xmlns:a="http://schemas.openxmlformats.org/drawingml/2006/main" w="9525">
            <a:solidFill>
              <a:srgbClr val="0E947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4D06A-EC8A-4681-8C4E-C49C6DBB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7D062-45BF-4FEF-AD65-8EDDE86B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Исполнитель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E26B8-4F9A-4B76-BD22-5FB313E3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Выполняет только свой разрешённый участок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81B14-EB60-4BE2-898F-D3E531BD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3370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2F30E-60D4-4F4C-85D8-F75C6B73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0C5"/>
          </a:solidFill>
          <a:ln xmlns:a="http://schemas.openxmlformats.org/drawingml/2006/main" w="9525">
            <a:solidFill>
              <a:srgbClr val="3DE0C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202FF-6267-4662-B6E6-67A77F56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4802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2E3E2-E0D1-4398-BEA5-81C9731E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051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Work Agent + Autotester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812E33-A0EC-4C7F-9776-641BA9CD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861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Собирают факты и проверяют сценарий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D38738-B6E1-46B2-97E5-2E2D558F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AFE5E-E167-4E75-B4F6-54155D37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3A8011-0A3B-426B-B6E8-B64BF9A1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31F18B-5293-4B48-89C8-5DC388F5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Archivist + Heart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8D3394-C52B-41A4-863F-28898350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911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Хранят след и сообщают об отклонении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4FC466-5BE9-4AC8-BC3A-DAB5F3E3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38650"/>
            <a:ext cx="5238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4227EE-F50C-435A-A6B9-AB87A985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291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83B"/>
          </a:solidFill>
          <a:ln xmlns:a="http://schemas.openxmlformats.org/drawingml/2006/main" w="9525">
            <a:solidFill>
              <a:srgbClr val="13283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EF3511-17B9-464D-9833-A9F3A7C9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5297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29F95E-9726-4D21-A4DE-66321454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10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Человек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588079-9E74-4F3F-BBAD-10670C6B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911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Принимает итог и разрешает значимое действие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0CCA4D-ACED-4431-A2AA-22B9BF56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91225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Один компонент не может сам поставить себе задачу, выполнить её и объявить успех.</a:t>
            </a:r>
          </a:p>
        </p:txBody>
      </p:sp>
    </p:spTree>
    <p:extLst>
      <p:ext uri="{BB962C8B-B14F-4D97-AF65-F5344CB8AC3E}">
        <p14:creationId xmlns:p14="http://schemas.microsoft.com/office/powerpoint/2010/main" val="15079048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33424-B938-4F90-94C5-D4637598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59230-94EC-4260-BD3F-A3970164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45021cc7948d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65533-A96D-4C89-8093-195B36A6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04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SEMANTIC + HUMAN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2218E-8FD1-492A-BEF4-9A308AA9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573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Система помнит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 только факт,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но и его контекст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E9458-BE88-4F08-AD90-74EF1959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29000"/>
            <a:ext cx="39433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• источник и автор</a:t>
            </a:r>
          </a:p>
          <a:p xmlns:a="http://schemas.openxmlformats.org/drawingml/2006/main">
            <a:pPr algn="l">
              <a:defRPr sz="187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• время и версия</a:t>
            </a:r>
          </a:p>
          <a:p xmlns:a="http://schemas.openxmlformats.org/drawingml/2006/main">
            <a:pPr algn="l">
              <a:defRPr sz="187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• связь с задачей</a:t>
            </a:r>
          </a:p>
          <a:p xmlns:a="http://schemas.openxmlformats.org/drawingml/2006/main">
            <a:pPr algn="l">
              <a:defRPr sz="1875" b="0">
                <a:solidFill>
                  <a:srgbClr val="C7E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E5EF"/>
                </a:solidFill>
                <a:latin typeface="Arial"/>
                <a:ea typeface="Arial"/>
                <a:cs typeface="Arial"/>
              </a:rPr>
              <a:t>• подтверждённый результат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15F67-6C01-43B3-8E99-BD50BE25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673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Найденное знание — данные для решения, а не команда к действию.</a:t>
            </a:r>
          </a:p>
        </p:txBody>
      </p:sp>
    </p:spTree>
    <p:extLst>
      <p:ext uri="{BB962C8B-B14F-4D97-AF65-F5344CB8AC3E}">
        <p14:creationId xmlns:p14="http://schemas.microsoft.com/office/powerpoint/2010/main" val="902590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BB5DF1-CFA7-4DCB-A873-3E96EF06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Склад и торговые точки — один процесс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D8A77-CEE7-4409-9904-6DB26D92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9BEB2-A442-47A0-8541-7B72A8E4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5B712-318F-48F6-9DEF-18FA677E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ОТ ЗАПРОСА КЛИЕНТА ДО ПОДТВЕРЖДЁННОЙ ВЫДАЧИ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A7CBD-3A47-4705-B2C3-DABF9E58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723CD-921C-48E3-932E-F35F710A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Запрос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E50E7-97E0-4939-A9CF-1870DE1E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клиент или магазин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B2EEC-A86B-443E-9F44-8C7114DE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051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D6867-35AC-422F-BD7C-F21492B5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479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2BF27-FB04-44C1-A278-27CD14C3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81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Остаток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A54F4-C863-487C-97DC-9C6915F2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проверка и резерв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CFF7E-4141-4CB6-B466-B1D3DDFB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051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A8E22-0339-464C-8A14-D9457EB9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479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0C5BC-EC74-4811-AA42-029AF0A5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Склад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0E240-2860-41F2-A7CF-4DF468F8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сборка и перемещение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35656-0633-4B3A-B491-FA58928A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52F83-49E0-4CB6-B6E2-CEE7D5B4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479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6C3F70-22ED-4707-AB11-E0AAFA1B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81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Продажа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C95CD-6648-47BE-8FDC-75B758D9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81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терминал и документы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0389D-CD2A-4348-867F-77C299D5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8EEA18-F28B-433D-8D32-8AC53839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47900"/>
            <a:ext cx="1866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EDA05-C869-4EC9-8EE5-F7F6C054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8116FA-E035-4131-80AB-C914EB8F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152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выдача, возврат, история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B4CCD9-4C06-4CF6-A923-DF908A8A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11010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Единые статусы • актуальные остатки • история движения • контроль исключений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5922C1-CF72-46F1-AEB5-B553E30B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101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FCBD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FCBD7"/>
                </a:solidFill>
                <a:latin typeface="Arial"/>
                <a:ea typeface="Arial"/>
                <a:cs typeface="Arial"/>
              </a:rPr>
              <a:t>Сотрудник управляет исключениями; система исполняет повторяемые шаги.</a:t>
            </a:r>
          </a:p>
        </p:txBody>
      </p:sp>
    </p:spTree>
    <p:extLst>
      <p:ext uri="{BB962C8B-B14F-4D97-AF65-F5344CB8AC3E}">
        <p14:creationId xmlns:p14="http://schemas.microsoft.com/office/powerpoint/2010/main" val="20308692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6CB82-86F8-4F0C-A083-771A5076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Реальный кейс: программный контур управляет оборудованием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4250F-DCF2-4BF8-8637-BEF7FF7A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A59F9-5353-4083-B249-858E9782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28faf01ac494e"/>
          <a:stretch xmlns:a="http://schemas.openxmlformats.org/drawingml/2006/main"/>
        </p:blipFill>
        <p:spPr>
          <a:xfrm xmlns:a="http://schemas.openxmlformats.org/drawingml/2006/main">
            <a:off x="1024467" y="1476375"/>
            <a:ext cx="5418667" cy="381000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353a205064925"/>
          <a:srcRect xmlns:a="http://schemas.openxmlformats.org/drawingml/2006/main" l="0" t="24618" r="0" b="246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476375"/>
            <a:ext cx="4362450" cy="2952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8D4BF-3C34-44CF-8D06-EE85F5D7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Dashboard → сервер → MQTT → контроллер → подтверждение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C8EA5-4F3B-4402-9CC0-64E2EA57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4362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Фото стенда подтверждает инженерную базу; складской пилот требует отдельной адаптации.</a:t>
            </a:r>
          </a:p>
        </p:txBody>
      </p:sp>
    </p:spTree>
    <p:extLst>
      <p:ext uri="{BB962C8B-B14F-4D97-AF65-F5344CB8AC3E}">
        <p14:creationId xmlns:p14="http://schemas.microsoft.com/office/powerpoint/2010/main" val="18239432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DDE09-140D-48A3-B7D5-B74A3041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Обычный компьютер без дорогого софта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5053B-0A2A-49F1-9B64-95F00191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14562-1B4E-491A-912B-2F01D224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8ED78-582E-4761-B839-49DAF762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УПРАВЛЕНИЕ И ЗАГРУЗКА ПО ЛОКАЛЬНОЙ СЕТИ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C0CB1-9EE9-4EDF-8458-FE419540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214312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4ACD3-C24A-457E-939B-BD9C12FF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800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Сотрудник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A3951-1B37-404D-9CCC-9E8DD293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8002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Работает сам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или принимает помощь 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B8F0A-73C7-421E-AD63-83F851BC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67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531A0-99D3-443F-B30D-F36462AD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133600"/>
            <a:ext cx="2333625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AB965-42E9-48AB-BB08-D6231AB3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66950"/>
            <a:ext cx="1990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Обычный ПК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8D2F0-3565-470D-8EF2-E8713CC7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67000"/>
            <a:ext cx="19907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Без покупки коммерческой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ОС для каждого узла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563B9-C13E-4D16-8905-8FCFF353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67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CB164-7037-4258-993F-878A4D2D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33600"/>
            <a:ext cx="2571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0B871-65EE-45F6-8708-CCFF9638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PXE + Android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5C7AB-7BDE-4E72-90B6-DEB5B6FE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67000"/>
            <a:ext cx="22288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Среда и приложения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загружаются по сети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C9647-7EA5-4D3D-9EBA-117B1694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DE01D4-9714-4CAC-AF56-031FEA67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33600"/>
            <a:ext cx="2762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8C4D3-E408-46DC-851B-2276A706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Future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AE4E2-7403-4E58-8A5D-7D6AAC4D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24193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Исполняет сценарий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83B"/>
                </a:solidFill>
                <a:latin typeface="Arial"/>
                <a:ea typeface="Arial"/>
                <a:cs typeface="Arial"/>
              </a:rPr>
              <a:t>и ведёт журнал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94845-C1AA-4149-8C03-7BB26CBE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110109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6162B"/>
          </a:solidFill>
          <a:ln xmlns:a="http://schemas.openxmlformats.org/drawingml/2006/main" w="9525">
            <a:solidFill>
              <a:srgbClr val="06162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A02857-9597-434A-8045-91037D1C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051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Коммерческая ОС и платный агент управления не нужны на каждом компьютере.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0240E4-745F-4FB1-87E7-EB633C23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Лицензии приложений и совместимость проверяются для выбранной комплектации.</a:t>
            </a:r>
          </a:p>
        </p:txBody>
      </p:sp>
    </p:spTree>
    <p:extLst>
      <p:ext uri="{BB962C8B-B14F-4D97-AF65-F5344CB8AC3E}">
        <p14:creationId xmlns:p14="http://schemas.microsoft.com/office/powerpoint/2010/main" val="14473468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2BE385-5DF4-453B-8C61-14275BF5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Реальный стенд Future Flow Operator Station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342D6-6CEC-4FD1-8A76-3B435BD9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547EE-5C7A-49C8-B139-F378A47B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b83e49ea043db"/>
          <a:srcRect xmlns:a="http://schemas.openxmlformats.org/drawingml/2006/main" l="12236" t="0" r="122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352550"/>
            <a:ext cx="5905500" cy="440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D0EF6-FF27-4E38-B960-D3B8C366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3716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ОПЕРАТОР УПРАВЛЯЕТ И НАБЛЮДАЕТ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6B807-C1A7-4876-B219-11D087DB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05000"/>
            <a:ext cx="447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DE395-E125-4F3D-B1E4-0D7F04F4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19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7F4"/>
          </a:solidFill>
          <a:ln xmlns:a="http://schemas.openxmlformats.org/drawingml/2006/main" w="9525">
            <a:solidFill>
              <a:srgbClr val="27D7F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E0D65-AF0F-4D8A-8CEF-79B778DF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240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FDAFE-32AD-4EDF-A222-94550F51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0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Выбрать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1DCC2-10D0-40D8-AA10-9B64671C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764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7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7E1"/>
                </a:solidFill>
                <a:latin typeface="Arial"/>
                <a:ea typeface="Arial"/>
                <a:cs typeface="Arial"/>
              </a:rPr>
              <a:t>нужный компьютер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23CB3-6D63-4B42-863F-0522EC8D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47975"/>
            <a:ext cx="447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F71345-B295-49DB-9BC3-BB7785C2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622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6BFF"/>
          </a:solidFill>
          <a:ln xmlns:a="http://schemas.openxmlformats.org/drawingml/2006/main" w="9525">
            <a:solidFill>
              <a:srgbClr val="8F6B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D40DF-38DE-4687-A9DC-B9566B46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67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FAC7E-FDEE-4F78-8693-ACB5F5B8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432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Подключиться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07A33-F401-4013-8117-31B5860B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7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7E1"/>
                </a:solidFill>
                <a:latin typeface="Arial"/>
                <a:ea typeface="Arial"/>
                <a:cs typeface="Arial"/>
              </a:rPr>
              <a:t>увидеть экран и состояние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F689C-D00B-4B54-9F8A-DB5393AF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90950"/>
            <a:ext cx="447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ECC87-8A47-4C1E-9F92-AB1978F0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05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E0C5"/>
          </a:solidFill>
          <a:ln xmlns:a="http://schemas.openxmlformats.org/drawingml/2006/main" w="9525">
            <a:solidFill>
              <a:srgbClr val="3DE0C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4C9B5-DD3F-4BC0-ABA1-01EC168F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00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11F8B-14AF-44BE-B862-914C416E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Сбросить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00E05C-295C-4C28-8C96-685CA23F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62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7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7E1"/>
                </a:solidFill>
                <a:latin typeface="Arial"/>
                <a:ea typeface="Arial"/>
                <a:cs typeface="Arial"/>
              </a:rPr>
              <a:t>только по разрешённому сценарию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7BBCFA-9A72-4F5E-85C9-E69C27AE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33925"/>
            <a:ext cx="4476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48EAD5-0CF2-4B7E-A4BE-27B5B98E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482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9525">
            <a:solidFill>
              <a:srgbClr val="FFB45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88F52-11B0-4005-B29B-9ABB0B4C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53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4F1C8A-F76C-49CD-A9D5-9D27E3FF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291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79EDA-652B-449D-B1B5-F934A5A6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054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7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7E1"/>
                </a:solidFill>
                <a:latin typeface="Arial"/>
                <a:ea typeface="Arial"/>
                <a:cs typeface="Arial"/>
              </a:rPr>
              <a:t>наблюдать запуск и результат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1BE210-6DA6-4ED1-855E-BB6C00B5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67375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Камера: QR • терминал: оплата • выключатель: человек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AA8AB6-4134-4028-9C23-FF2DA964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9626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Аппаратное отключение возвращает управление человеку.</a:t>
            </a:r>
          </a:p>
        </p:txBody>
      </p:sp>
    </p:spTree>
    <p:extLst>
      <p:ext uri="{BB962C8B-B14F-4D97-AF65-F5344CB8AC3E}">
        <p14:creationId xmlns:p14="http://schemas.microsoft.com/office/powerpoint/2010/main" val="17062972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902E4-87CB-4C49-89B6-B4F1730F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будет выглядеть адаптация для реселлера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D5D88-093D-41B7-A01B-1E779669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F4D68-F07F-4B8B-9B25-C2C9E408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ee32159ec403b"/>
          <a:stretch xmlns:a="http://schemas.openxmlformats.org/drawingml/2006/main"/>
        </p:blipFill>
        <p:spPr>
          <a:xfrm xmlns:a="http://schemas.openxmlformats.org/drawingml/2006/main">
            <a:off x="2330335" y="1295400"/>
            <a:ext cx="7531329" cy="4238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9D0F7-7F64-4BD1-B69F-26EBA3F1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Склады • магазины • терминалы • датчики • единые статусы</a:t>
            </a:r>
          </a:p>
        </p:txBody>
      </p:sp>
    </p:spTree>
    <p:extLst>
      <p:ext uri="{BB962C8B-B14F-4D97-AF65-F5344CB8AC3E}">
        <p14:creationId xmlns:p14="http://schemas.microsoft.com/office/powerpoint/2010/main" val="8936737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8A73A-E7EF-41D9-B7DB-623AB760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Jarvice: локальный ИИ внутри вашего контура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61267-3A1A-4CBB-99AB-58A59687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3C4B0-ACA9-4E16-AA4E-27D63248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4dd7e68b34f5c"/>
          <a:stretch xmlns:a="http://schemas.openxmlformats.org/drawingml/2006/main"/>
        </p:blipFill>
        <p:spPr>
          <a:xfrm xmlns:a="http://schemas.openxmlformats.org/drawingml/2006/main">
            <a:off x="7758113" y="1352550"/>
            <a:ext cx="3057525" cy="4076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F89EF-4447-429C-B517-6E167EC2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Рабочий режим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99726-9CCC-40E3-8A54-D6C8093F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4762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 интернета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Внутренние данные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Локальные модели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Управление процессами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A3758-66E7-4FA5-9E54-815BA02F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45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454"/>
                </a:solidFill>
                <a:latin typeface="Arial"/>
                <a:ea typeface="Arial"/>
                <a:cs typeface="Arial"/>
              </a:rPr>
              <a:t>Окно обновления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B0965-6F8E-4851-99D1-51108F61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8D4E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D4E0"/>
                </a:solidFill>
                <a:latin typeface="Arial"/>
                <a:ea typeface="Arial"/>
                <a:cs typeface="Arial"/>
              </a:rPr>
              <a:t>Подключение разрешается отдельно:</a:t>
            </a:r>
          </a:p>
          <a:p xmlns:a="http://schemas.openxmlformats.org/drawingml/2006/main">
            <a:pPr algn="l">
              <a:defRPr sz="1725" b="0">
                <a:solidFill>
                  <a:srgbClr val="B8D4E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D4E0"/>
                </a:solidFill>
                <a:latin typeface="Arial"/>
                <a:ea typeface="Arial"/>
                <a:cs typeface="Arial"/>
              </a:rPr>
              <a:t>проверка → обновление → отключение.</a:t>
            </a:r>
          </a:p>
        </p:txBody>
      </p:sp>
    </p:spTree>
    <p:extLst>
      <p:ext uri="{BB962C8B-B14F-4D97-AF65-F5344CB8AC3E}">
        <p14:creationId xmlns:p14="http://schemas.microsoft.com/office/powerpoint/2010/main" val="2855558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83C21B-C21A-4DE5-AF5A-E51F1830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8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283B"/>
                </a:solidFill>
                <a:latin typeface="Arial"/>
                <a:ea typeface="Arial"/>
                <a:cs typeface="Arial"/>
              </a:rPr>
              <a:t>Шесть продуктов Future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B658E-A690-4DB3-8AB7-B20A58DC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238C0-CFA8-432B-AA04-5CFAF99F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B65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eb621e6354ea3"/>
          <a:srcRect xmlns:a="http://schemas.openxmlformats.org/drawingml/2006/main" l="14981" t="0" r="149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333500"/>
            <a:ext cx="5334000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ABFC0-1E96-491A-8EF2-2E67A8A3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8E43E-1F04-4D12-ACD7-82104D5F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954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BED48-B4DE-4D00-B845-40207D65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28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Retail Terminal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B012A-02FE-4DBB-BF02-DE1EAF30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764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QR-сканер • продажа • оплата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6688A-2DE7-4555-AF8B-01625B26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FA8F3-1A90-424C-BF4D-9E2F2143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11913-07C6-4FA9-B473-6C97D061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52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Warehouse Node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8F176-E1EE-43F2-AE7B-68325110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003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склад • статусы • локальная обработка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BA19A-22B2-4BC0-8569-C20395D5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F6FAE-F7B9-489C-9AEC-6D6A9E0A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432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53833-1E30-4AF4-B159-EF870BD1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76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Sensor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8B5D3-5C71-4940-8859-5FA3F3D0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242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температура • дверь • движение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F56A6-9A85-4381-AB12-0BFE4F33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B4562-C0DF-400B-B695-A8D11F43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67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7F32CC-90CE-472D-A4A2-67DE797C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0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Control Module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3AB8D-E02D-4585-A4A4-0B0A2EBA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481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экран • команды • без установки софта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4B41B5-99B1-4594-B879-F74AA131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8906BC-556D-4C92-A549-797F3D68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910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D933A-2B50-4356-961A-41D7AEE9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24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Jarvice 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7EC25-6A6C-4456-BF63-AE7E93F3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локальные сервисы • модели 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7FCF77-28CE-40C7-AE5F-D52BA6F5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72050"/>
            <a:ext cx="5314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8E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98C637-4FFB-45D6-BD03-EA133423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14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947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94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292537-7ADC-4D84-B1E4-4E5B10E0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48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Operator Station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819755-6FE6-42DC-BFDF-605F7920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95900"/>
            <a:ext cx="4267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5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B6577"/>
                </a:solidFill>
                <a:latin typeface="Arial"/>
                <a:ea typeface="Arial"/>
                <a:cs typeface="Arial"/>
              </a:rPr>
              <a:t>обзор • подключение • контроль</a:t>
            </a:r>
          </a:p>
        </p:txBody>
      </p:sp>
    </p:spTree>
    <p:extLst>
      <p:ext uri="{BB962C8B-B14F-4D97-AF65-F5344CB8AC3E}">
        <p14:creationId xmlns:p14="http://schemas.microsoft.com/office/powerpoint/2010/main" val="10379133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C1A4B-19D4-4FE8-AD09-0666E571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Производство и масштабирование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2CCEB-C6A6-48B8-85F9-9DD8483A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DB4C8"/>
                </a:solidFill>
                <a:latin typeface="Arial"/>
                <a:ea typeface="Arial"/>
                <a:cs typeface="Arial"/>
              </a:rPr>
              <a:t>FUTURE FLOW  •  futureflow.ms8at.by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68050-2239-4A2C-880A-C867C0BB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579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DB4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DB4C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D10D8-1D2C-4ACC-A4F7-716F3C1F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0482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A6AA4-2830-4BB7-9C78-0A4F5719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0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Беларусь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542AD-BAA9-4DEA-B58E-88AF1C82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4705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Локальная комплектация</a:t>
            </a:r>
          </a:p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Настройка под процесс</a:t>
            </a:r>
          </a:p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Документы и сервис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5051B-90EC-41F3-B4F8-F6196DF8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76400"/>
            <a:ext cx="561975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D6927-5FB1-4528-A5C8-8A731E22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09750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Китай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07985-E78D-45EB-92CB-B71E4D7A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52768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Серийное производство</a:t>
            </a:r>
          </a:p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Партнёрские мощности</a:t>
            </a:r>
          </a:p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Масштаб крупных партий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3037B-CD64-4250-BF86-FFD9816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11010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Ориентир производства и доставки — около месяца*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07397-0122-4C72-9501-BB738B6A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4355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9C7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C7D5"/>
                </a:solidFill>
                <a:latin typeface="Arial"/>
                <a:ea typeface="Arial"/>
                <a:cs typeface="Arial"/>
              </a:rPr>
              <a:t>* Срок и доступная мощность подтверждаются для конкретной спецификации и партии.</a:t>
            </a:r>
          </a:p>
        </p:txBody>
      </p:sp>
    </p:spTree>
    <p:extLst>
      <p:ext uri="{BB962C8B-B14F-4D97-AF65-F5344CB8AC3E}">
        <p14:creationId xmlns:p14="http://schemas.microsoft.com/office/powerpoint/2010/main" val="11774224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4DCE8-64BA-4D20-9E96-337CF1B6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ПЕРВЫЙ СОВМЕСТНЫЙ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05620-B0F1-404E-A52C-813D672A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42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процесс.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измеримый пилот.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 по цифрам.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7AA91-30B4-419F-B13A-9F6DB51E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352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987F2-85E5-4290-BA76-EF2E44BF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1 • Замер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1EA02-ACFA-462C-A791-2AFB2DFC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время • ошибки • объём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97F68-38C7-40A3-9285-C0AE4DA0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3352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30887-CC01-4B52-BD88-3AEAFA59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F6B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F6BFF"/>
                </a:solidFill>
                <a:latin typeface="Arial"/>
                <a:ea typeface="Arial"/>
                <a:cs typeface="Arial"/>
              </a:rPr>
              <a:t>2 • Пилот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6CBE6-0277-4B41-A492-7CE8AD1B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291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сценарий • техника • обучение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AB8E1-A323-45F9-AA4F-FD1C4625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33528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2440"/>
          </a:solidFill>
          <a:ln xmlns:a="http://schemas.openxmlformats.org/drawingml/2006/main" w="9525">
            <a:solidFill>
              <a:srgbClr val="1A476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2D5DB-5A9B-4692-83F6-94916A0A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2910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E0C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E0C5"/>
                </a:solidFill>
                <a:latin typeface="Arial"/>
                <a:ea typeface="Arial"/>
                <a:cs typeface="Arial"/>
              </a:rPr>
              <a:t>3 • Решение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B0389-30C5-4BBD-8D3F-54468D9B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29150"/>
            <a:ext cx="300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8F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AF8FC"/>
                </a:solidFill>
                <a:latin typeface="Arial"/>
                <a:ea typeface="Arial"/>
                <a:cs typeface="Arial"/>
              </a:rPr>
              <a:t>масштабировать • доработать • остановить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B8F2C-4A1F-454F-9AF6-9D30A38C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D7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D7F4"/>
                </a:solidFill>
                <a:latin typeface="Arial"/>
                <a:ea typeface="Arial"/>
                <a:cs typeface="Arial"/>
              </a:rPr>
              <a:t>futureflow.ms8at.by</a:t>
            </a:r>
          </a:p>
        </p:txBody>
      </p:sp>
    </p:spTree>
    <p:extLst>
      <p:ext uri="{BB962C8B-B14F-4D97-AF65-F5344CB8AC3E}">
        <p14:creationId xmlns:p14="http://schemas.microsoft.com/office/powerpoint/2010/main" val="157546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2026-10-03T20:20:32.2570000Z</dcterms:created>
  <dcterms:modified xsi:type="dcterms:W3CDTF">2026-10-03T20:20:32.2570000Z</dcterms:modified>
</coreProperties>
</file>