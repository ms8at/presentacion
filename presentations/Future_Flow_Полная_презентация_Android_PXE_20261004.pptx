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f4872c50f0404a" /><Relationship Type="http://schemas.openxmlformats.org/officeDocument/2006/relationships/extended-properties" Target="/docProps/app.xml" Id="R3d0f3f65df414536" /><Relationship Type="http://schemas.openxmlformats.org/officeDocument/2006/relationships/officeDocument" Target="/ppt/presentation.xml" Id="Rbff4ad041a4849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4f4d61270e4d85"/>
  </p:sldMasterIdLst>
  <p:notesMasterIdLst>
    <p:notesMasterId xmlns:r="http://schemas.openxmlformats.org/officeDocument/2006/relationships" r:id="R4e6b22d4b48c40da"/>
  </p:notesMasterIdLst>
  <p:sldIdLst>
    <p:sldId xmlns:r="http://schemas.openxmlformats.org/officeDocument/2006/relationships" id="256" r:id="Rf920552824df495e"/>
    <p:sldId xmlns:r="http://schemas.openxmlformats.org/officeDocument/2006/relationships" id="257" r:id="Ra49784d7d8084e23"/>
    <p:sldId xmlns:r="http://schemas.openxmlformats.org/officeDocument/2006/relationships" id="258" r:id="R66dba7edfd344d72"/>
    <p:sldId xmlns:r="http://schemas.openxmlformats.org/officeDocument/2006/relationships" id="259" r:id="R9fae4e12281146a2"/>
    <p:sldId xmlns:r="http://schemas.openxmlformats.org/officeDocument/2006/relationships" id="260" r:id="Ra09bea6710be4f38"/>
    <p:sldId xmlns:r="http://schemas.openxmlformats.org/officeDocument/2006/relationships" id="261" r:id="Rce6f8ea2a1e5461a"/>
    <p:sldId xmlns:r="http://schemas.openxmlformats.org/officeDocument/2006/relationships" id="262" r:id="Rcbbb111a368b40b8"/>
    <p:sldId xmlns:r="http://schemas.openxmlformats.org/officeDocument/2006/relationships" id="263" r:id="R230889327f9a45bc"/>
    <p:sldId xmlns:r="http://schemas.openxmlformats.org/officeDocument/2006/relationships" id="264" r:id="Rc0d81aa78a584a51"/>
    <p:sldId xmlns:r="http://schemas.openxmlformats.org/officeDocument/2006/relationships" id="265" r:id="R9bddc19c8ad44148"/>
    <p:sldId xmlns:r="http://schemas.openxmlformats.org/officeDocument/2006/relationships" id="266" r:id="R1e5d7ac779194a0f"/>
    <p:sldId xmlns:r="http://schemas.openxmlformats.org/officeDocument/2006/relationships" id="267" r:id="R6a7e7e5569194686"/>
    <p:sldId xmlns:r="http://schemas.openxmlformats.org/officeDocument/2006/relationships" id="268" r:id="R9f2e26ed14454d63"/>
    <p:sldId xmlns:r="http://schemas.openxmlformats.org/officeDocument/2006/relationships" id="269" r:id="R53184ed62b62451a"/>
    <p:sldId xmlns:r="http://schemas.openxmlformats.org/officeDocument/2006/relationships" id="270" r:id="Rc9cffb6f7220422a"/>
    <p:sldId xmlns:r="http://schemas.openxmlformats.org/officeDocument/2006/relationships" id="271" r:id="Reaf8c0dfa8934401"/>
    <p:sldId xmlns:r="http://schemas.openxmlformats.org/officeDocument/2006/relationships" id="272" r:id="R3ca4f0e8d84046de"/>
    <p:sldId xmlns:r="http://schemas.openxmlformats.org/officeDocument/2006/relationships" id="273" r:id="R73dfd724b7814e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32776111b4edc" /><Relationship Type="http://schemas.openxmlformats.org/officeDocument/2006/relationships/slideMaster" Target="/ppt/slideMasters/slideMaster1.xml" Id="Rd24f4d61270e4d85" /><Relationship Type="http://schemas.openxmlformats.org/officeDocument/2006/relationships/notesMaster" Target="/ppt/notesMasters/notesMaster1.xml" Id="R4e6b22d4b48c40da" /><Relationship Type="http://schemas.openxmlformats.org/officeDocument/2006/relationships/presProps" Target="/ppt/presProps.xml" Id="Rb7d53ab963ea4e61" /><Relationship Type="http://schemas.openxmlformats.org/officeDocument/2006/relationships/tableStyles" Target="/ppt/tableStyles.xml" Id="Rda9e3513b3c444dc" /><Relationship Type="http://schemas.openxmlformats.org/officeDocument/2006/relationships/slide" Target="/ppt/slides/slide1.xml" Id="Rf920552824df495e" /><Relationship Type="http://schemas.openxmlformats.org/officeDocument/2006/relationships/slide" Target="/ppt/slides/slide2.xml" Id="Ra49784d7d8084e23" /><Relationship Type="http://schemas.openxmlformats.org/officeDocument/2006/relationships/slide" Target="/ppt/slides/slide3.xml" Id="R66dba7edfd344d72" /><Relationship Type="http://schemas.openxmlformats.org/officeDocument/2006/relationships/slide" Target="/ppt/slides/slide4.xml" Id="R9fae4e12281146a2" /><Relationship Type="http://schemas.openxmlformats.org/officeDocument/2006/relationships/slide" Target="/ppt/slides/slide5.xml" Id="Ra09bea6710be4f38" /><Relationship Type="http://schemas.openxmlformats.org/officeDocument/2006/relationships/slide" Target="/ppt/slides/slide6.xml" Id="Rce6f8ea2a1e5461a" /><Relationship Type="http://schemas.openxmlformats.org/officeDocument/2006/relationships/slide" Target="/ppt/slides/slide7.xml" Id="Rcbbb111a368b40b8" /><Relationship Type="http://schemas.openxmlformats.org/officeDocument/2006/relationships/slide" Target="/ppt/slides/slide8.xml" Id="R230889327f9a45bc" /><Relationship Type="http://schemas.openxmlformats.org/officeDocument/2006/relationships/slide" Target="/ppt/slides/slide9.xml" Id="Rc0d81aa78a584a51" /><Relationship Type="http://schemas.openxmlformats.org/officeDocument/2006/relationships/slide" Target="/ppt/slides/slide10.xml" Id="R9bddc19c8ad44148" /><Relationship Type="http://schemas.openxmlformats.org/officeDocument/2006/relationships/slide" Target="/ppt/slides/slide11.xml" Id="R1e5d7ac779194a0f" /><Relationship Type="http://schemas.openxmlformats.org/officeDocument/2006/relationships/slide" Target="/ppt/slides/slide12.xml" Id="R6a7e7e5569194686" /><Relationship Type="http://schemas.openxmlformats.org/officeDocument/2006/relationships/slide" Target="/ppt/slides/slide13.xml" Id="R9f2e26ed14454d63" /><Relationship Type="http://schemas.openxmlformats.org/officeDocument/2006/relationships/slide" Target="/ppt/slides/slide14.xml" Id="R53184ed62b62451a" /><Relationship Type="http://schemas.openxmlformats.org/officeDocument/2006/relationships/slide" Target="/ppt/slides/slide15.xml" Id="Rc9cffb6f7220422a" /><Relationship Type="http://schemas.openxmlformats.org/officeDocument/2006/relationships/slide" Target="/ppt/slides/slide16.xml" Id="Reaf8c0dfa8934401" /><Relationship Type="http://schemas.openxmlformats.org/officeDocument/2006/relationships/slide" Target="/ppt/slides/slide17.xml" Id="R3ca4f0e8d84046de" /><Relationship Type="http://schemas.openxmlformats.org/officeDocument/2006/relationships/slide" Target="/ppt/slides/slide18.xml" Id="R73dfd724b781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0bb6ca5b1b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0422c6c9b484c" /><Relationship Type="http://schemas.openxmlformats.org/officeDocument/2006/relationships/notesMaster" Target="/ppt/notesMasters/notesMaster1.xml" Id="R7e0a55bf36714d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402aafdf04e4e" /><Relationship Type="http://schemas.openxmlformats.org/officeDocument/2006/relationships/notesMaster" Target="/ppt/notesMasters/notesMaster1.xml" Id="R78e0cfc3641b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eb385d6fc4da3" /><Relationship Type="http://schemas.openxmlformats.org/officeDocument/2006/relationships/notesMaster" Target="/ppt/notesMasters/notesMaster1.xml" Id="R430ada89f4de4b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f6e084d64476d" /><Relationship Type="http://schemas.openxmlformats.org/officeDocument/2006/relationships/notesMaster" Target="/ppt/notesMasters/notesMaster1.xml" Id="R799a9d3445d1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2b1fb45eb4525" /><Relationship Type="http://schemas.openxmlformats.org/officeDocument/2006/relationships/notesMaster" Target="/ppt/notesMasters/notesMaster1.xml" Id="R538da3c5ce194d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56f2107e18492b" /><Relationship Type="http://schemas.openxmlformats.org/officeDocument/2006/relationships/notesMaster" Target="/ppt/notesMasters/notesMaster1.xml" Id="R891824ce4fa7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f9226ca20347ec" /><Relationship Type="http://schemas.openxmlformats.org/officeDocument/2006/relationships/notesMaster" Target="/ppt/notesMasters/notesMaster1.xml" Id="Rc0fe8feb65f6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9adde8a9a49fb" /><Relationship Type="http://schemas.openxmlformats.org/officeDocument/2006/relationships/notesMaster" Target="/ppt/notesMasters/notesMaster1.xml" Id="Recc891ab621040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e3282a9b6b4d1b" /><Relationship Type="http://schemas.openxmlformats.org/officeDocument/2006/relationships/notesMaster" Target="/ppt/notesMasters/notesMaster1.xml" Id="Rfe53940fe3004e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927929fdce45e6" /><Relationship Type="http://schemas.openxmlformats.org/officeDocument/2006/relationships/notesMaster" Target="/ppt/notesMasters/notesMaster1.xml" Id="R8cec6d7005994a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1f035da29542da" /><Relationship Type="http://schemas.openxmlformats.org/officeDocument/2006/relationships/notesMaster" Target="/ppt/notesMasters/notesMaster1.xml" Id="R6062dbe444d548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217fa7bab24c44" /><Relationship Type="http://schemas.openxmlformats.org/officeDocument/2006/relationships/notesMaster" Target="/ppt/notesMasters/notesMaster1.xml" Id="R4853e272160047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7198cd0c7b4f81" /><Relationship Type="http://schemas.openxmlformats.org/officeDocument/2006/relationships/notesMaster" Target="/ppt/notesMasters/notesMaster1.xml" Id="Rad825844175047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9b15d3561647ed" /><Relationship Type="http://schemas.openxmlformats.org/officeDocument/2006/relationships/notesMaster" Target="/ppt/notesMasters/notesMaster1.xml" Id="R41797691ba2740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a37b7c543c49ab" /><Relationship Type="http://schemas.openxmlformats.org/officeDocument/2006/relationships/notesMaster" Target="/ppt/notesMasters/notesMaster1.xml" Id="R92120e7190f644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20eb81019447c9" /><Relationship Type="http://schemas.openxmlformats.org/officeDocument/2006/relationships/notesMaster" Target="/ppt/notesMasters/notesMaster1.xml" Id="Rc19e5000e6224d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e779bd8bea44eb" /><Relationship Type="http://schemas.openxmlformats.org/officeDocument/2006/relationships/notesMaster" Target="/ppt/notesMasters/notesMaster1.xml" Id="Re99f452455d444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b497a1c7184817" /><Relationship Type="http://schemas.openxmlformats.org/officeDocument/2006/relationships/notesMaster" Target="/ppt/notesMasters/notesMaster1.xml" Id="R8edf1f0445434e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15–18 секунд. Мы ценим ваше время, поэтому сначала показываем главное: где теряется прибыль, как Future Flow возвращает скорость и что можно проверить на готовом стенде. Мир ускоряется. Если компания внедряет медленнее конкурентов, она теряет скорость, клиентов и позицию на рынке. После этой реплики перейти к ежедневным потерям.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Изображение создано ИИ специально для презентации; это концепт, а не фотография действующего объекта. Визуальный стиль вдохновлён современными футуристическими pitch deck: https://slidesgo.com/theme/futuristic-tech-pitch-deck и https://www.behance.net/gallery/250361117/Savant-Brand-Identity-Pitch-Deck-Presentation, просмотрено 03.10.2026.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Вторая реплика, 12–15 секунд. Ручной процесс каждый день съедает прибыль: сотрудники ищут данные, исправляют ошибки, товар лежит без движения, клиент не получает ответ вовремя. Future Flow сокращает эти потери, не сокращая команду. Затем быстро показать четыре источника результата и перейти к процентам.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иллюстративная структура потенциального эффекта, а не прогноз конкретной компании. За сто процентов принят весь ожидаемый эффект пилота. Пример распределения: сорок процентов — сокращение повторной ручной работы, двадцать пять — снижение ошибок и переделок, двадцать — меньше потерянных продаж из-за неактуальных остатков или медленной реакции, пятнадцать — меньше простоев и лишних перемещений. В пилоте эти доли заменяются фактическими измерениями заказчика. Все значения показаны в процентах, без цен и денежных сумм.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предлагаем заменить сотрудников. Мы предлагаем изменить содержание их работы. Сегодня время уходит на поиск данных, перенос сведений, сверку нескольких систем и повторную подготовку документов. После внедрения система собирает контекст, готовит черновик и проверяет обязательные поля. Сотрудник подтверждает решение, общается с клиентом и разбирает исключения. Производительность растёт, а опыт людей становится частью правил и памяти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бизнеса ИИ лучше объяснять без магии. Это набор моделей, правил, сценариев и проверок, который настраивают люди. Мы работаем по утверждённой документации, техническим паспортам и инструкциям заказчика. Гарантия относится к исполнению сценария: каждый обязательный шаг либо выполнен и подтверждён, либо процесс останавливается с указанием отклонения. ИИ не получает права самостоятельно менять регламент, придумывать новые правила или пропускать проверку. Правильность исходной инструкции подтверждает владелец процесса; система обеспечивает её воспроизводимое выполнение в заданных условиях.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программное сердце Future Flow, показанное простым языком. События приходят из магазина, склада, датчиков, документов и запросов сотрудников. Heart наблюдает состояние и свежесть сигналов. Task Manager привязывает задачу к правильному процессу и владельцу. Semantic Memory хранит фразы, контекст, время и происхождение знаний; Human Memory выдаёт только нужную порцию контекста. Analyst и специализированные агенты готовят решение. Jarvice даёт локальные вычисления и модели. Work Agent собирает факты, Autotester проверяет зарегистрированные сценарии, Archivist сохраняет карту и доказательства. Dashboard показывает итог человеку и получает подтверждение.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Локальные источники: [local-source-reviewed]; c_AI_TASK_MANAGER/README.md; c_AI_SEMANTIC_MEMORY/README.md; c_HUMAN_MEMORY/README.md; c_AI_ANALYST/README.md; c_ai_autotester/README.md; c_WORK_AGENT/README.md; c_AI_ARCHIVIST/README.md. Некоторые модули находятся на разных стадиях готовности; слайд описывает целевую интеграционную архитектуру, а не утверждает, что весь контур уже развёрнут у заказчика.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показать разделение ответственности. Владелец процесса утверждает инструкцию и критерии. Task Manager назначает исполнителя. Агент или программа выполняет только свой участок. Work Agent собирает факты выполнения. Autotester и независимый проверяющий подтверждают сценарий. Archivist сохраняет карту, версию и доказательства. Heart сообщает, если сигнал устарел, задача остановилась или подтверждение отсутствует. Dashboard возвращает итог человеку. Такая структура снижает риск, что один и тот же компонент сам себе поставил задачу, сам выполнил и сам объявил успех.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 Memory — не просто архив документов. Она хранит исходные фразы, смысловые признаки, время, автора и происхождение записи. Поиск возвращает не только совпадение, но и причину, почему оно найдено. Human Memory берёт из большого хранилища маленький пакет, который нужен для конкретной задачи, сохраняя ссылки на источники и отмечая, чего не хватает. Это позволяет использовать опыт сотрудников и прошлых операций, не загружая модель всем массивом данных и не превращая найденный текст в автоматическую команду.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[local-source-reviewed] прочитано 03.10.2026. Иллюстрация создана ИИ специально для презентации; это концепт.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партнёра склады и магазины работают одновременно, поэтому автоматизация должна видеть всю цепочку. Заказ клиента проверяется по реальному остатку. Товар резервируется по утверждённому правилу. Склад получает задачу на комплектацию. Магазин видит статус и готовность. Продажа, выдача или возврат оставляют подтверждённый след. Руководитель видит отклонения и показатели. Учётная система остаётся источником истины по товару; Future Flow связывает процессы, людей и оборудование вокруг неё.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инженерный контур команды Future Flow. Панель управления показывает состояние объектов, сервер обрабатывает команды, защищённый канал передаёт их контроллеру, а устройство возвращает подтверждение. На фотографии — экспериментальный стенд Future/IC WDT Tester. Это не означает готовую складскую интеграцию, но подтверждает, что команда уже работает с цепочкой «интерфейс — сервер — контроллер — физическое устройство — обратная связь».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[local-source-reviewed]; [local-source-reviewed]; фото [local-source-reviewed] Состояние исходников и физическая приёмка — разные доказательства.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Экономия начинается с программного контура. Future Flow хранит утверждённый Android-профиль централизованно и подаёт его по PXE через MikroTik.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каждом совместимом компьютере не требуется покупать отдельную коммерческую ОС и устанавливать платный агент удалённого управления. Нужные приложения входят в подготовленный профиль.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не означает, что любое стороннее ПО бесплатно: лицензии выбранных приложений и совместимость оборудования проверяются перед поставкой.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Проект Android_PXE_MikroTik на 4 октября 2026 года подтверждает сборку DeviceTest 1.10 и генерацию пяти PXE-меню. Физическая загрузка Android 13 и текущее состояние RouterOS в этом переносе пока имеют статус NOT_RUN.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CURRENT_STATE.md.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существующий демонстрационный сценарий Future Flow. На рабочем месте оператора используется моноблок; камера даёт обзор подключённого оборудования и считывает QR-коды; внешний модуль передаёт экран и команды выбранного компьютера; аппаратный выключатель позволяет немедленно остановить автоматическое управление. При подключении платёжного оборудования терминал выполняет утверждённый сценарий оплаты. Оператор может подключиться к разрешённому компьютеру, посмотреть его состояние, выполнить разрешённый сброс и наблюдать загрузку. Управляемый компьютер остаётся обычным компьютером, и дополнительная программа управления на него не устанавливается. Наличие оборудования подтверждено владельцем проекта; перед показом фиксируются точная комплектация и проверенный сценарий. Изображение на слайде — визуальный концепт стенда, а не фотография.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адаптировать инженерный контур Future Flow под реселлера. В интерфейсе будут склады, торговые точки, терминалы, датчики и их статусы. Руководитель увидит, где товар, что ожидает подтверждения и где возникло отклонение. Мы не меняли исходные действующие проекты в рамках презентации; это визуальный концепт будущего стенда. Изображение создано ИИ и не является скриншотом действующей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Jarvice — локальный вычислительный центр в офисе или инфраструктуре заказчика. На нём размещаются внутренние сервисы, база знаний и локальные модели ИИ. Графические ускорители подбираются по модели и нагрузке. Управление рабочими процессами может выполняться без подключения к интернету. Для обновлений предусматривается отдельное контролируемое окно с проверкой пакетов и возможностью отката. Такая архитектура снижает внешнюю поверхность риска, но всё равно требует контроля прав, носителей, обновлений и резервного копирования.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продукта: https://ms8at.by/en/jarvice/jarvice.html, просмотрено 03.10.2026. Фото: [local-source-reviewed] Программный [local-source-reviewed] — отдельный экспериментальный контур; не выдавать его за полностью активированный production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Flow собирается как продуктовая система. Retail Terminal — рабочее место продавца. Warehouse Node — локальный узел склада. Sensor Kit фиксирует состояние среды и оборудования. Control Module подключает обычные компьютеры без установки программы управления. Jarvice Core запускает внутренние сервисы и локальные модели. Operator Station даёт человеку единое место наблюдения и вмешательства. Конкретная комплектация каждого продукта фиксируется в спецификации и проверяется перед демонстрацией или поставкой. Изображение — концепт продуктовой линейки.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Производство может быть организовано в Беларуси или Китае. Беларусь подходит для локальной комплектации, настройки, документов и сервиса. Китай даёт масштаб серийного производства; по информации инициатора проекта, партнёрские мощности могут выпускать тысячи компьютеров в день. Эта цифра относится к потенциалу производства, а доступная квота под конкретную модель и партию подтверждается отдельно. Ориентир производства и доставки — около месяца, но срок зависит от состава, объёма, компонентов, логистики и оформления. Цены изделий не приводятся; на следующем слайде указан только ориентир стартового этапа знакомства.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Сайт https://ms8at.by/index.html подтверждает работу с партнёрами и производителями в Беларуси и Китае, просмотрено 03.10.2026. Производственная мощность и срок — информация инициатора проекта, требуют фиксации в договоре.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ценим ваше и наше время, поэтому предлагаем начинать не с длинной серии встреч, а с готового демонстрационного стенда. На нём партнёр сразу видит компьютеры, внешний модуль управления, камеру, QR-сценарий, аппаратное отключение и локальную автоматизацию. После демонстрации можно быстро решить, какой процесс проверять в пилоте. Ориентир стартового этапа — 4 500 условных единиц. Это не цена всей системы и не публичная оферта: точный состав, срок и условия фиксируются до начала.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Закрываем встречу конкретным предложением. Не начинаем со всей сети. Выбираем одну цепочку, например: запрос клиента — проверка остатка — резерв — комплектация — выдача. Сначала фиксируем исходные показатели. Затем настраиваем сценарий, права, оборудование и обучение. После пилота сравниваем скорость, качество, ошибки и число выполненных заказов. Расширение происходит только по подтверждённым процентам. Мы ценим ваше время, поэтому решение принимается по цифрам.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8df8de5a3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fafd6e94084ed6" /><Relationship Type="http://schemas.openxmlformats.org/officeDocument/2006/relationships/slideLayout" Target="/ppt/slideLayouts/slideLayout1.xml" Id="Red2b7ccff7b1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b7ccff7b1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c9b5a98ec4d50" /><Relationship Type="http://schemas.openxmlformats.org/officeDocument/2006/relationships/image" Target="/ppt/media/image.png" Id="R991b0bb49f1d4d59" /><Relationship Type="http://schemas.openxmlformats.org/officeDocument/2006/relationships/notesSlide" Target="/ppt/notesSlides/notesSlide1.xml" Id="R8cc4a9c8393b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645a17d9f4c4c" /><Relationship Type="http://schemas.openxmlformats.org/officeDocument/2006/relationships/notesSlide" Target="/ppt/notesSlides/notesSlide2.xml" Id="R65e47f5540d9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d3c824fa4177" /><Relationship Type="http://schemas.openxmlformats.org/officeDocument/2006/relationships/chart" Target="/ppt/slides/charts/chart1.xml" Id="Rf44344d2e187410d" /><Relationship Type="http://schemas.openxmlformats.org/officeDocument/2006/relationships/notesSlide" Target="/ppt/notesSlides/notesSlide3.xml" Id="Rd14728f5e0ff4e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d85cc33749f0" /><Relationship Type="http://schemas.openxmlformats.org/officeDocument/2006/relationships/notesSlide" Target="/ppt/notesSlides/notesSlide4.xml" Id="Rc56ec258f7f1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8a7a48e88477d" /><Relationship Type="http://schemas.openxmlformats.org/officeDocument/2006/relationships/notesSlide" Target="/ppt/notesSlides/notesSlide5.xml" Id="R244109669b5b48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5934d947f4946" /><Relationship Type="http://schemas.openxmlformats.org/officeDocument/2006/relationships/notesSlide" Target="/ppt/notesSlides/notesSlide6.xml" Id="R3ca050408837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ad7a8d88c40b7" /><Relationship Type="http://schemas.openxmlformats.org/officeDocument/2006/relationships/notesSlide" Target="/ppt/notesSlides/notesSlide7.xml" Id="R0b7031669dd346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d448493fd49ba" /><Relationship Type="http://schemas.openxmlformats.org/officeDocument/2006/relationships/image" Target="/ppt/media/image2.png" Id="R1be280cbab1d4414" /><Relationship Type="http://schemas.openxmlformats.org/officeDocument/2006/relationships/notesSlide" Target="/ppt/notesSlides/notesSlide8.xml" Id="R7d66dd0bbc6045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d923c3edd44d2" /><Relationship Type="http://schemas.openxmlformats.org/officeDocument/2006/relationships/notesSlide" Target="/ppt/notesSlides/notesSlide9.xml" Id="R512b9341f7ab4d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841294f80472d" /><Relationship Type="http://schemas.openxmlformats.org/officeDocument/2006/relationships/image" Target="/ppt/media/image3.png" Id="R00d171a030cc4aa2" /><Relationship Type="http://schemas.openxmlformats.org/officeDocument/2006/relationships/image" Target="/ppt/media/image.jpeg" Id="R5de5660b3c784d59" /><Relationship Type="http://schemas.openxmlformats.org/officeDocument/2006/relationships/notesSlide" Target="/ppt/notesSlides/notesSlide10.xml" Id="R4215d08b1fa84d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32e84672d44f0" /><Relationship Type="http://schemas.openxmlformats.org/officeDocument/2006/relationships/notesSlide" Target="/ppt/notesSlides/notesSlide11.xml" Id="R9abcd789f88f47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823bdf374763" /><Relationship Type="http://schemas.openxmlformats.org/officeDocument/2006/relationships/image" Target="/ppt/media/image4.png" Id="R71678a49b9f94ad2" /><Relationship Type="http://schemas.openxmlformats.org/officeDocument/2006/relationships/notesSlide" Target="/ppt/notesSlides/notesSlide12.xml" Id="R0d797e089a0a4b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c667f6d2447b1" /><Relationship Type="http://schemas.openxmlformats.org/officeDocument/2006/relationships/image" Target="/ppt/media/image5.png" Id="R35a6e4a7a5b649ef" /><Relationship Type="http://schemas.openxmlformats.org/officeDocument/2006/relationships/notesSlide" Target="/ppt/notesSlides/notesSlide13.xml" Id="Rd576fe7e475e4d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02c37b0b9414b" /><Relationship Type="http://schemas.openxmlformats.org/officeDocument/2006/relationships/image" Target="/ppt/media/image.bin" Id="R8486a406841e409b" /><Relationship Type="http://schemas.openxmlformats.org/officeDocument/2006/relationships/notesSlide" Target="/ppt/notesSlides/notesSlide14.xml" Id="R5dcfc21fec0a4b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33797f9fc4721" /><Relationship Type="http://schemas.openxmlformats.org/officeDocument/2006/relationships/image" Target="/ppt/media/image6.png" Id="R2a3803caa0e2490d" /><Relationship Type="http://schemas.openxmlformats.org/officeDocument/2006/relationships/notesSlide" Target="/ppt/notesSlides/notesSlide15.xml" Id="Rc687d5e495c34e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f458aef1a455c" /><Relationship Type="http://schemas.openxmlformats.org/officeDocument/2006/relationships/notesSlide" Target="/ppt/notesSlides/notesSlide16.xml" Id="R5cf5bce595d143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b869ffade48fe" /><Relationship Type="http://schemas.openxmlformats.org/officeDocument/2006/relationships/image" Target="/ppt/media/image7.png" Id="R1c4370b0a4ff422d" /><Relationship Type="http://schemas.openxmlformats.org/officeDocument/2006/relationships/notesSlide" Target="/ppt/notesSlides/notesSlide17.xml" Id="Rcfb67dd6ea504b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9c8facc854469" /><Relationship Type="http://schemas.openxmlformats.org/officeDocument/2006/relationships/notesSlide" Target="/ppt/notesSlides/notesSlide18.xml" Id="R5bee7a7172844d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эффекта, %</c:v>
          </c:tx>
          <c:spPr>
            <a:solidFill xmlns:a="http://schemas.openxmlformats.org/drawingml/2006/main">
              <a:srgbClr val="0E947D"/>
            </a:solidFill>
          </c:spPr>
          <c:cat>
            <c:strRef>
              <c:f>'Chart Data'!$A$2:$A$5</c:f>
              <c:strCache>
                <c:ptCount val="4"/>
                <c:pt idx="0">
                  <c:v>Рутинное время</c:v>
                </c:pt>
                <c:pt idx="1">
                  <c:v>Ошибки и переделки</c:v>
                </c:pt>
                <c:pt idx="2">
                  <c:v>Потерянные продажи</c:v>
                </c:pt>
                <c:pt idx="3">
                  <c:v>Простои и логистика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0bb49f1d4d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FC802-73B4-489E-BB43-E0E9462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FUTURE FLOW  •  MS8AT GLOBAL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D4B3-3F20-4FE4-8C3A-DD1229ED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Мы ценим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ваше время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4C9CF-B35C-4B2D-986B-0C9FC8A8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619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Сначала покажем главное. Затем — компьютеры,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автоматизацию, контроль и условия старта.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B79AB-0A96-4965-9095-C90B266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785516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B4C69-6938-428D-8D53-4F963932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Ручной процесс ежедневно съедает прибыль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F66B3-7D68-4A3C-91D5-2067C95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F3F55-A493-4C3F-9AFF-2B1299E3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07FF5-4CB6-4949-8DBD-C6F81C42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ЧЕТЫРЕ БОЛЕВЫЕ ТОЧКИ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D416D-9649-45C2-98FA-7A777E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3CA08-7E72-4AC1-811A-E1F9F37F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Больше продаж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1934-F659-4526-9B67-7B5A10E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Быстрее ответ клиенту, точнее наличие, меньше потерянных заказов.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90241-B1BF-409D-AE84-74607EBE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7CEBC-EC1C-4B87-BF5C-E454100B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Меньше ошибок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D886D-6196-43DD-983C-F44233B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обязательных шагов до выполнения и подтверждение результата.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BEE6-CE58-46EE-9D86-DE2F956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46224-2E61-4626-97A5-47D9DDF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Выше оборот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A25BA-1120-4B3D-99D6-92A900C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Единый контур склада и магазинов помогает быстрее перемещать товар.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8933F-4B77-4543-A0AF-E10D601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667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3C445-307B-4762-924E-069476D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Та же команда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2EE62-0040-42A2-A5A9-77315EB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Рутинные операции передаются системе, сотрудники работают с клиентом.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5D2C3-0702-473C-858D-71A47D9B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Главная цель: больше выполненной работы и выше качество — без замены команды.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4D958-2EF6-4AC0-86FF-A3E790D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C7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C7D7"/>
                </a:solidFill>
                <a:latin typeface="Arial"/>
                <a:ea typeface="Arial"/>
                <a:cs typeface="Arial"/>
              </a:rPr>
              <a:t>Результат пилота измеряется по фактическим данным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954334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6A9FC-2852-4D14-8632-08C1DB3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Откуда появляется экономический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A8835-1384-4DAB-BC89-D91623B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0CB19-E0A8-4FAE-86D7-305E6C98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BD359-A798-45B1-84D4-BA32823F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ИЛЛЮСТРАТИВНАЯ МОДЕЛЬ: 100% ПОТЕНЦИАЛЬНОГО ЭФФЕКТА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4344d2e187410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DF9E2-D6F2-42E1-AFD0-9E7A07C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Доля эффекта,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76512-DD55-47C4-AA91-07DC255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147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915A7-D301-4038-9B5F-9C099FA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0B6B1-7C88-43F2-886E-D69533E8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весь эффект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DBF6F-7078-479E-9D9C-80609F1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После замера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проценты заменяются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фактическими данными.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8A230-55D5-4E8E-B385-0F9D704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331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Эффект считается только после вычета новых расходов на поддержку и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843456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97498-91BB-4433-AD45-F027AF62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 же команда. Больше выполненной работы.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A35A-888D-452A-9DC3-67C2925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565B8-1357-4152-85E6-177753A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23295-5E4D-42B9-9324-2705C7CE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DB8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B8C7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D07D3-CBE4-4125-9A52-919F659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После внедрения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E7028-B07A-4319-BD32-817E0B0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286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информации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Перенос данных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Ручная сверка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Повторные документы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5820-24C1-4E8E-9C9C-4D2BAF1F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52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05C2E-A0A3-4067-B464-83A5471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решения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клиентом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исключениями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Улучшение процесса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3F7F6-9065-42C3-9039-26D5806E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D2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D2DE"/>
                </a:solidFill>
                <a:latin typeface="Arial"/>
                <a:ea typeface="Arial"/>
                <a:cs typeface="Arial"/>
              </a:rPr>
              <a:t>Опыт сотрудников не исчезает — он превращается в регламент, память и контроль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1519295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E06CC-4374-4A06-ACAC-7052B35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ИИ — управляемый сценарий, а не магия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9D728-453F-4FD0-AA18-07921E2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5DC31-BBD3-4BFD-9A76-2FC668A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5797D-691F-4899-9DA0-9592B8BE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100% ОБЯЗАТЕЛЬНЫХ ШАГОВ ПОД КОНТРОЛЕМ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C3DD0-B381-40C3-90DC-52DC820C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EA031-AE6F-4F08-B33D-FB4CA40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Документация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B62AC-D7A5-4B92-AFAE-2B8DA4F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Инструкции, паспорта, регламенты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68F08-3045-4BA6-8F8C-CA2FF7C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6558A-94B3-47D6-88FD-9C1E34E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43109-0B16-4EBD-916E-3814F2D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61FE4-0CF3-4667-8A20-69325086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Правила, роли, запреты,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E9C87-B130-4F22-8D41-61235FC5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F70AD-15A1-4CAC-9C8A-61C418F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F4560-7221-4B1A-9DBB-623A7336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2A8F0-A770-4E02-9B9F-3F611ECD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Только разрешённые 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38D7-2DFC-442E-AF34-34706C3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842BE-2F61-4F44-982A-DD5B1CE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BF600-0C66-43C2-A298-74613F50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03C87-AFCE-455C-8ABA-71EA3B4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Фактический результат и след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3A6ED-0226-4F58-97F5-5A6CC46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1010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76770-8593-4757-A454-8CA45A6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040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Если шаг нельзя подтвердить — система останавливается и сообщает об отклонении.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67600-3A24-4627-94AF-7D34ED8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ИИ анализирует и предлагает. Регламент и контроль определяют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568445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F23922-EE2F-436A-8A07-EC72752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Программное сердце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986C7-8ABD-4DFC-97EA-1A164200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DBA9D-8CE5-44D2-97B2-FB3BAA18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9113-AD5E-458F-B967-D1909D0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ОДИН ПУТЬ ОТ СИГНАЛА ДО ПОДТВЕРЖДЁННОГО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D49D-45C5-4560-8198-90C5EEEE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681CC-E930-4A8A-A170-F459FE6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6C96-5972-4893-8D6B-E55876D4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магазин • склад • датчики • документы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1C152-31E7-4293-A9E0-EF72F30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A7303-9ED4-4A7D-9520-B84EAC92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FBA03-8E53-4EB8-8F5B-48082C68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Heart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AC1D9-D983-4165-BF88-DD415FE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наблюдает состояние и свежесть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16CDD-426F-4780-9B97-5973586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3F566-348E-4767-9251-DB0AC80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95450"/>
            <a:ext cx="4000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FB6C6-5219-4C1E-AD36-AD01E9AB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CD9EE-9B28-4ED6-A902-6012EC6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назначает владельца и маршрут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F7E63-3BE8-4B7B-A867-4403D694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092C6-6B6B-445B-A2FC-99B554E4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0C8D6-CCDA-458C-A48A-802F45D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контекст • время • происхождение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06C9B-E262-4DCE-9F09-685C6A1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164E9-4313-4807-B660-AED3B300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30B6F-BE45-453E-8B14-141E10BB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Analyst + агенты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CDD7B-BB09-435F-985E-70E311D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готовят решение по правилам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F2AD2-6421-477E-871F-49FC648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01876-571D-49D2-915F-38A9BDE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4631A-E091-4E81-9974-3E4E1B0B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Jarvice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0662F-96AA-41A7-A158-138B360E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локальные модели и вычисления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74F87-8363-4680-9531-AF88C5E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23D49-EC81-4499-AF57-037E0B2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7239F-31D9-4DD6-B5FF-9142C122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факты • тесты • независимая проверка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B27E8-AABE-496D-9E9B-847F1BCC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716DF-62EE-4110-99C9-DC37E3DB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C633B3-9C15-4CD2-BEE2-2441F4B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01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Archivist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522C6-2862-41ED-830C-302DEBF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карта • история • доказательства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0EB0F5-EE33-4E21-8A58-5557FB5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DDC26-5C9F-4B2F-A907-21C5B75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5B5FD-C7DE-49FF-BD45-6F3E6C5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Dashboard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BD3380-C59E-4017-8CBB-32C36B7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решение • подтверждение • контроль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3310F-6FF2-4600-BD8F-1BE8266B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CBD7"/>
                </a:solidFill>
                <a:latin typeface="Arial"/>
                <a:ea typeface="Arial"/>
                <a:cs typeface="Arial"/>
              </a:rPr>
              <a:t>Каждый модуль отвечает за свою роль; права и проверки не смешиваются.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1363876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48C04-10C3-4C97-88E6-8FB4183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Кто назначает, выполняет, проверяет и архивирует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16ED-B2B5-4FDA-9DD4-245A962C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853CA-0522-4FCF-A247-9B7A20A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7F77C-1700-4C4A-B278-45A0874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A4FDB-5228-43AF-A84B-A6596418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1A52F-7459-4CE9-A015-D1101319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32E7C-1014-446F-A085-4918EFBB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Владелец процесса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1277-DF23-4426-A06D-EE26CB8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Утверждает инструкцию и критерии результата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67640-07D2-432F-A0B2-A3D19E4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B4CA0-6537-4965-814A-D43C8E0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AF796-3228-4975-9519-93DB881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AD59-0FCC-4D3B-AB1D-8022D3CD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3DCDE-2AEA-4AEB-8890-F2CE344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Назначает точный маршрут и ответственного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EE699-9EA8-42CE-B240-258030B9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44EF9-B0F2-4303-B967-EC14A863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47D"/>
          </a:solidFill>
          <a:ln xmlns:a="http://schemas.openxmlformats.org/drawingml/2006/main" w="9525">
            <a:solidFill>
              <a:srgbClr val="0E94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4FCE9-F727-4D15-8904-6E72A96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93304-3DBF-473C-AEE9-872F614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BCF2B-FF8E-42B2-9443-A6E76F0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Выполняет только свой разрешённый участок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FA465-D04C-4933-839B-FAFB7D47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E0CB4-AC22-4673-8BDD-A38C51F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F866D-ED3F-4E4B-8F30-72F739F2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4DEC4-FE63-49E9-9EFB-FD9219F5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E5280-591D-48C7-86DA-C736B8EC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Собирают факты и проверяют сценарий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8054B-84F9-48D1-8CC6-2195C2E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C4569-26DC-4610-9981-55E49095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11FA8-7D67-491A-85A6-29B792F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3DC30-1AA2-41F0-8F63-4D8F910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Archivist + Heart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0A08A-581D-4643-9EE2-D19CB9E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Хранят след и сообщают об отклонении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F0360-BBF8-4EB3-8208-EB40AD07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557C7-C691-49FA-9C1B-E4C21C20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B"/>
          </a:solidFill>
          <a:ln xmlns:a="http://schemas.openxmlformats.org/drawingml/2006/main" w="9525">
            <a:solidFill>
              <a:srgbClr val="1328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EC8B8-C159-4242-A67B-A8610ADE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D4ED7-42C4-4A53-BED2-D9EE5146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Человек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297C3-DA65-4352-B2BF-706C2EB2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Принимает итог и разрешает значимое действие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6802AD-9E96-4A7C-A5E1-11E697D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Один компонент не может сам поставить себе задачу, выполнить её и объявить успех.</a:t>
            </a:r>
          </a:p>
        </p:txBody>
      </p:sp>
    </p:spTree>
    <p:extLst>
      <p:ext uri="{BB962C8B-B14F-4D97-AF65-F5344CB8AC3E}">
        <p14:creationId xmlns:p14="http://schemas.microsoft.com/office/powerpoint/2010/main" val="61168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6E708-0E16-486E-AA10-73AECAAC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B7AB4-6185-4A5B-A68E-7A03D08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280cbab1d44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B61D3-3595-48DB-8495-35ACEF5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0BE3E-1319-49C7-932C-5A34BFE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помнит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только факт,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 и его 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D49AB-990E-4E7E-A651-02F8853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39433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источник и автор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время и версия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связь с задачей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подтверждённый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C0BCF-A7C9-417D-A38E-C4F7E1E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Найденное знание — данные для решения, а не команда к действию.</a:t>
            </a:r>
          </a:p>
        </p:txBody>
      </p:sp>
    </p:spTree>
    <p:extLst>
      <p:ext uri="{BB962C8B-B14F-4D97-AF65-F5344CB8AC3E}">
        <p14:creationId xmlns:p14="http://schemas.microsoft.com/office/powerpoint/2010/main" val="1820931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8BA93-C1B9-4986-A0CF-AB9F224C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Склад и торговые точки — один 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686EB-1329-4279-B611-F4389B6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74B77-1445-4FDB-B472-464CEA96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C86CF-C25D-42D7-B911-9826AA5B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ОТ ЗАПРОСА КЛИЕНТА ДО ПОДТВЕРЖДЁННОЙ ВЫДАЧИ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C3ED0-5194-4992-9936-9494D3B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5BB57-A9DF-4213-BB8B-1AE2C38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771DC-2BE3-4FC8-8997-E1EFCD1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клиент или магазин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F4FF8-ED87-4522-BE88-8749EB8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86C15-2ABB-425F-88D7-7D5DBE5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2265-6123-4D71-913F-6C38E8A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Остаток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6B4D7-84EC-4417-9701-515BE1F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и резерв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0AAAB-265A-4AEA-B2C7-495D7CA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98924-D7E2-48D4-A5F1-60802A3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E0F8D-A525-404D-9D9E-82DA489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48E55-E61E-496D-BED9-4CE95A40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сборка и перемещение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EEBBF-0652-4220-8560-C27FC35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343D1-3180-419D-AD5A-895D3B02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4F50A-C13A-4933-8E67-33CA7774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Продажа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C3022-0A49-4D5E-90C2-B98A81B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терминал и документы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0F8E0-CF9E-4BB9-9D70-6FF381A2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4760E-D103-49D4-BA63-E1806E64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947F3-7D28-4B3D-91BC-DE5915E3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67106-46A1-42D9-AF17-C6A9676F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выдача, возврат, история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E19F5-1B18-442D-88B4-1DF2652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Единые статусы • актуальные остатки • история движения • контроль исключений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2F3DE-5629-416D-A12B-ABA8D3CB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BD7"/>
                </a:solidFill>
                <a:latin typeface="Arial"/>
                <a:ea typeface="Arial"/>
                <a:cs typeface="Arial"/>
              </a:rPr>
              <a:t>Сотрудник управляет исключениями; система исполняет повторяемые шаги.</a:t>
            </a:r>
          </a:p>
        </p:txBody>
      </p:sp>
    </p:spTree>
    <p:extLst>
      <p:ext uri="{BB962C8B-B14F-4D97-AF65-F5344CB8AC3E}">
        <p14:creationId xmlns:p14="http://schemas.microsoft.com/office/powerpoint/2010/main" val="1530318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F4633-2D24-4D0B-A269-AFB0F26E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Реальный кейс: программный контур управляет оборудованием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02350-AF35-4294-B7CC-B0533656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45A58-6782-40F4-B449-8892110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171a030cc4aa2"/>
          <a:stretch xmlns:a="http://schemas.openxmlformats.org/drawingml/2006/main"/>
        </p:blipFill>
        <p:spPr>
          <a:xfrm xmlns:a="http://schemas.openxmlformats.org/drawingml/2006/main">
            <a:off x="1024467" y="1476375"/>
            <a:ext cx="5418667" cy="3810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5660b3c784d59"/>
          <a:srcRect xmlns:a="http://schemas.openxmlformats.org/drawingml/2006/main" l="0" t="24618" r="0" b="2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76375"/>
            <a:ext cx="4362450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15D48-004A-4B11-A8A9-39F19ED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Dashboard → сервер → MQTT → контроллер → подтверждение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7AC59-492A-404E-A985-69D505B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Фото стенда подтверждает инженерную базу; складской пилот требует отдельной адаптации.</a:t>
            </a:r>
          </a:p>
        </p:txBody>
      </p:sp>
    </p:spTree>
    <p:extLst>
      <p:ext uri="{BB962C8B-B14F-4D97-AF65-F5344CB8AC3E}">
        <p14:creationId xmlns:p14="http://schemas.microsoft.com/office/powerpoint/2010/main" val="684516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0BD45-FD08-43F1-B80E-9C67979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Обычный компьютер без дорогого софта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A048-B718-4670-BA9B-36E35FF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7651A-A752-476F-BCDE-E40CCEEA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6871B-99B1-474E-A20B-74A944A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УПРАВЛЕНИЕ И ЗАГРУЗКА ПО ЛОКАЛЬНОЙ СЕТИ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E2945-DB46-4B48-BA3D-F782B232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1431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8E267-6675-4800-B48C-A27E19F5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2253E-D7CD-4312-8350-28971E5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0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Работает сам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или принимает помощь 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5C27B-C814-49C0-B628-C1F9D1AB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4B76B-8F1F-4762-8E43-FB8F4FE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33600"/>
            <a:ext cx="23336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5EFE6-60D9-4708-A30B-826BBD8C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669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Обычный ПК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9F017-3E65-4370-88B3-CFCA1CE7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19907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Без покупки коммерческой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ОС для каждого узла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AB6A5-5ED9-4169-B607-CB80561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BE9F-A85B-4AE6-8E30-28834D97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33600"/>
            <a:ext cx="2571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EBE63-6EF8-49C3-BA7C-A8C4A1D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PXE + Android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1C4C9-26C6-417A-9733-4F42935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Среда и приложения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загружаются по сети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61562-1C5E-4D41-9609-891707E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E1934-8681-417C-B1C1-6D7AFA1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762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77E16-DBAF-4FAA-A28C-E3B5A31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Future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F2DCB-FFE1-4AA9-9773-FBA039A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419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Исполняет сценарий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 ведёт журнал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B74B4-C69D-47DB-AE5A-DC0AFC95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1010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5E6D1-5404-4B7E-8D32-B5E7515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Коммерческая ОС и платный агент управления не нужны на каждом компьютере.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E97F6-EA06-43C1-9A44-C70A9A6D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Лицензии приложений и совместимость проверяются для выбранной комплектации.</a:t>
            </a:r>
          </a:p>
        </p:txBody>
      </p:sp>
    </p:spTree>
    <p:extLst>
      <p:ext uri="{BB962C8B-B14F-4D97-AF65-F5344CB8AC3E}">
        <p14:creationId xmlns:p14="http://schemas.microsoft.com/office/powerpoint/2010/main" val="1328615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378DD-910A-4AAF-9003-129BDB60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Реальный стенд Future Flow Operator Station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4DEFC-DE86-45A0-AEA0-821673B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5DAC1-4997-4E84-89F0-809ED50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78a49b9f94ad2"/>
          <a:srcRect xmlns:a="http://schemas.openxmlformats.org/drawingml/2006/main" l="12236" t="0" r="122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52550"/>
            <a:ext cx="5905500" cy="440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48542-4D08-4D53-8ECD-EA3A71B6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71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ОПЕРАТОР УПРАВЛЯЕТ И НАБЛЮДАЕТ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06280-E340-4AC2-8A45-F5D3A2D0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0500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39252-3C3A-4AD9-A5FA-94C0E92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60F6E-B1E8-430D-B735-2ED39EF5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24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4A32B-7F52-4FD7-BE72-1A7E950F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Выбрать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911D9-34B9-434A-8440-0354852B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764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нужный компьютер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D35A-9842-4D20-A5CD-8B59199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4797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9EDFC-2BF7-4502-A349-7D88E9B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17E6F-801A-4790-80D6-BECDE519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9EF3B-B85F-447F-8C70-36FE70B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3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Подключиться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E497A-7C99-4743-876B-832E8AF9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увидеть экран и состояние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4225E-BC30-497D-B9A8-8C46BCC7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4A696-C762-4AF8-AE76-415043E7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A8DEB-B47D-4B48-9186-2A86318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992FB-49D8-463D-9BC8-C7CF2F9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Сбросить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30A53-1C9D-4CC4-83D5-955D69DB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2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только по разрешённому сценарию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F69EF-BAD9-4E5F-BA86-6AF7613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3392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CDD49-0812-4090-86AF-FE5F78C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48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1A7F4-C694-4527-A86C-89850C5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8DA0B-9265-45AB-B1C2-F544149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29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F72C5-B8E6-4DB7-A8C5-A2F13E07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наблюдать запуск и результат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C1B98-5C08-4993-BFBA-C7E7B1A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Камера: QR • терминал: оплата • выключатель: человек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C5719-C8DD-4DAF-8B6B-54944B7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626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Аппаратное отключение возвращает управление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19319542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AC580-1DE8-41BB-8156-0047207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будет выглядеть адаптация для реселлера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58FF-661B-4148-BF7E-CB84BBFA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CAF95-CC2C-4A28-844A-32A1BD3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6e4a7a5b649ef"/>
          <a:stretch xmlns:a="http://schemas.openxmlformats.org/drawingml/2006/main"/>
        </p:blipFill>
        <p:spPr>
          <a:xfrm xmlns:a="http://schemas.openxmlformats.org/drawingml/2006/main">
            <a:off x="2330335" y="1295400"/>
            <a:ext cx="7531329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AAE2B-0280-4760-AB10-3826AE82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Склады • магазины • терминалы • датчики • единые статусы</a:t>
            </a:r>
          </a:p>
        </p:txBody>
      </p:sp>
    </p:spTree>
    <p:extLst>
      <p:ext uri="{BB962C8B-B14F-4D97-AF65-F5344CB8AC3E}">
        <p14:creationId xmlns:p14="http://schemas.microsoft.com/office/powerpoint/2010/main" val="1234071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9494-2C55-41AE-A3EF-309BFD0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Jarvice: локальный ИИ внутри вашего контура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9E45E-C8B7-4480-B1D2-5DBA23D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8B4C1-A56F-433B-8550-2DC8FA4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6a406841e409b"/>
          <a:stretch xmlns:a="http://schemas.openxmlformats.org/drawingml/2006/main"/>
        </p:blipFill>
        <p:spPr>
          <a:xfrm xmlns:a="http://schemas.openxmlformats.org/drawingml/2006/main">
            <a:off x="7758113" y="1352550"/>
            <a:ext cx="3057525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696A9-C176-426A-BB02-CD16D3B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Рабочий 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2EA6A-D958-4803-94F6-2EB10936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интернета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Внутренние данные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Локальные модели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процессами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8B376-A4C2-4DEB-8F13-C485048B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Окно обновления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13BB4-6C1E-4DE5-A9C0-0DC1E91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Подключение разрешается отдельно:</a:t>
            </a:r>
          </a:p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проверка → обновление → отключение.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1865167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DF012-29FD-40A9-8E20-856A85A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Шесть продуктов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2364F-36EF-4EDF-AFBF-65CCC8D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7AB4F-4104-450E-9B78-CB7318A1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803caa0e2490d"/>
          <a:srcRect xmlns:a="http://schemas.openxmlformats.org/drawingml/2006/main" l="14981" t="0" r="14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33500"/>
            <a:ext cx="5334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99FBC-020B-48FA-9FE2-1A99CBA2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7A2A-D3C6-4BFE-950C-95A2DCB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95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3BAE1-B44E-4A99-BE28-7BD042A9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Retail 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95D13-8376-44D7-8D61-9FD121E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QR-сканер • продажа • оплата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B69C0-BBED-47B1-A079-54CB96A9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6B68C-756B-4BE9-9D91-AB2D459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4E4F0-DD10-4C79-AE53-399DDAAF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Warehouse 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89D50-700F-423E-B2C3-B3469CE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склад • статусы • локальная обработка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8D180-6B7A-4CB4-89DD-279E5C0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E2885-CDD4-4017-99D5-ACA0E7F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81CC5-35C4-46A3-9F74-156DE46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Sensor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DE9BB-7B99-4DB4-B806-8E3E434A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температура • дверь • движение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C2273-72DF-4503-949F-9A6DB2C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F25BD-DF8F-4CD4-81B1-C07C57C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97619-955E-47E5-BC01-0C434348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Control Module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C104D-6509-4BB6-8BCD-06666401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экран • команды • без установки софта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834B9-5A65-48D7-BC12-C9AE1A0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7BF58-FD7C-4861-9A12-7C92476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DE88C-35E1-41BA-8348-1C2B804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Jarvice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30C98-B87D-43B4-8C7F-E340DEF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локальные сервисы • модели 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9B0FE-BF62-4764-A23A-565A242D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52774-24EE-48ED-8C11-B5137A19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FCB61-D7A8-4A5B-B0D9-0B39FDA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Operator Station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110E5-3BA7-482C-B87C-303C43F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обзор • подключение • контроль</a:t>
            </a:r>
          </a:p>
        </p:txBody>
      </p:sp>
    </p:spTree>
    <p:extLst>
      <p:ext uri="{BB962C8B-B14F-4D97-AF65-F5344CB8AC3E}">
        <p14:creationId xmlns:p14="http://schemas.microsoft.com/office/powerpoint/2010/main" val="5990371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054EB-009B-4BFA-85A9-EF5BB6D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Производство и масштабирование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C2F5F-5B0E-48CB-98AC-7A8054F1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29A29-30C0-40F9-AABC-B3E9298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B196A-D991-40D3-B550-B8B93F7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048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2231A-8CDC-4B1A-8400-13C9869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Беларусь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0E38C-10E4-4D0F-B763-6750557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705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Локальная комплектация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Настройка под процесс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Документы и сервис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BAF53-0366-411D-A35C-E6160A8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56197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AFA0B-D837-41D1-9698-36BE775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Китай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0F7C7-E591-4688-A76C-4F658F4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276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Серийное производство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Партнёрские мощности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 крупных партий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820E1-4838-40C2-9762-6ACF005C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производства и доставки — около месяца*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EEA05-8246-4DAC-AD6C-5075586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C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C7D5"/>
                </a:solidFill>
                <a:latin typeface="Arial"/>
                <a:ea typeface="Arial"/>
                <a:cs typeface="Arial"/>
              </a:rPr>
              <a:t>* Срок и доступная мощность подтверждаются для конкретной спецификации и партии.</a:t>
            </a:r>
          </a:p>
        </p:txBody>
      </p:sp>
    </p:spTree>
    <p:extLst>
      <p:ext uri="{BB962C8B-B14F-4D97-AF65-F5344CB8AC3E}">
        <p14:creationId xmlns:p14="http://schemas.microsoft.com/office/powerpoint/2010/main" val="355540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A9FB3-3C57-4708-BE20-7FEF432B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Готовый стенд вместо долгих переговоров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5C53F-A3D4-41CA-A165-D650ECB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7287-921B-4477-8461-89A292DC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370b0a4ff422d"/>
          <a:srcRect xmlns:a="http://schemas.openxmlformats.org/drawingml/2006/main" l="11528" t="0" r="115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5391150" cy="3943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ABE4-CAB8-43DC-85EC-FCB699C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09700"/>
            <a:ext cx="5181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4731-DC88-44EB-A154-CC794A0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1184A-C4BD-400E-A47E-5DE984B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Посмотреть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0628A-5639-427D-9A6A-F2FA04F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383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Оборудование и автоматизация в работе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0DC8-B8F2-4762-B602-258327F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5181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DDF83-E9B4-49FB-B9F8-91000390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9C4CE-399E-45AD-977F-280CA0BC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806B8-379D-4913-80C1-738DE2C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432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Управление, QR, отключение и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753EE-AA63-4B68-BE6C-F925E3E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5181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4A34D-0992-435C-B4AF-8D654E9D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06AC6-6675-4615-93BD-8049E4F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Решить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ACD42-29E4-4E63-9CAF-25756F19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48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Подходит ли подход для вашего процесса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ECC3E-F139-4CAF-9955-0B9D127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5181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10793-3F0A-4F4D-A21E-0DE37A4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4 500 у.е.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32CC6-622A-4656-8B10-11D4E290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ориентир стартового этапа</a:t>
            </a:r>
          </a:p>
          <a:p xmlns:a="http://schemas.openxmlformats.org/drawingml/2006/main">
            <a:pPr algn="l">
              <a:defRPr sz="127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точный состав фиксируется до начала</a:t>
            </a:r>
          </a:p>
        </p:txBody>
      </p:sp>
    </p:spTree>
    <p:extLst>
      <p:ext uri="{BB962C8B-B14F-4D97-AF65-F5344CB8AC3E}">
        <p14:creationId xmlns:p14="http://schemas.microsoft.com/office/powerpoint/2010/main" val="18323872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7CB2F-7301-4C54-A9F9-147EB4E2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ПЕРВЫЙ СОВМЕСТНЫЙ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043F3-60F9-4669-AE59-AE3A5308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процесс.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измеримый пилот.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по цифрам.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D447D-A6DF-473F-B16E-421EE929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05D5A-AF03-436A-BFB9-5D294B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1 • Замер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CB9AE-A86E-4226-A205-6C923BE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время • ошибки • объём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CFD30-F264-4B2A-B405-66BA222E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BE683-1686-4CFA-90AF-201062C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2 •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B99E6-D688-48B9-AE93-841BA24B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сценарий • техника • обучение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51CC4-4010-4597-A85A-E98D1F68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8AEA3-3BC3-4387-A0CC-0113930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3 • 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857C0-7DEB-410C-98EA-9774026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масштабировать • доработать • остановить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34ADD-8CD7-4DE2-A923-03C69EB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Мы ценим ваше время  •  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1951216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2026-10-03T20:48:34.0950000Z</dcterms:created>
  <dcterms:modified xsi:type="dcterms:W3CDTF">2026-10-03T20:48:34.0950000Z</dcterms:modified>
</coreProperties>
</file>