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b68d2fa6445c0" /><Relationship Type="http://schemas.openxmlformats.org/officeDocument/2006/relationships/extended-properties" Target="/docProps/app.xml" Id="R85af7fb815b64b17" /><Relationship Type="http://schemas.openxmlformats.org/officeDocument/2006/relationships/officeDocument" Target="/ppt/presentation.xml" Id="Re91d06ae3ce44d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124c27c40423d"/>
  </p:sldMasterIdLst>
  <p:notesMasterIdLst>
    <p:notesMasterId xmlns:r="http://schemas.openxmlformats.org/officeDocument/2006/relationships" r:id="R431825dcb12d41be"/>
  </p:notesMasterIdLst>
  <p:sldIdLst>
    <p:sldId xmlns:r="http://schemas.openxmlformats.org/officeDocument/2006/relationships" id="256" r:id="R826cf49ba80140ca"/>
    <p:sldId xmlns:r="http://schemas.openxmlformats.org/officeDocument/2006/relationships" id="257" r:id="R098ee24751af4144"/>
    <p:sldId xmlns:r="http://schemas.openxmlformats.org/officeDocument/2006/relationships" id="258" r:id="R2d3d4dc2f19e464c"/>
    <p:sldId xmlns:r="http://schemas.openxmlformats.org/officeDocument/2006/relationships" id="259" r:id="Rad8edbce5f8a44cc"/>
    <p:sldId xmlns:r="http://schemas.openxmlformats.org/officeDocument/2006/relationships" id="260" r:id="R144333e7b16c4b5f"/>
    <p:sldId xmlns:r="http://schemas.openxmlformats.org/officeDocument/2006/relationships" id="261" r:id="R38453ba16e0c4d63"/>
    <p:sldId xmlns:r="http://schemas.openxmlformats.org/officeDocument/2006/relationships" id="262" r:id="R869c1e9624cb4863"/>
    <p:sldId xmlns:r="http://schemas.openxmlformats.org/officeDocument/2006/relationships" id="263" r:id="R5a52713d09284655"/>
    <p:sldId xmlns:r="http://schemas.openxmlformats.org/officeDocument/2006/relationships" id="264" r:id="R162189a8cbfe4089"/>
    <p:sldId xmlns:r="http://schemas.openxmlformats.org/officeDocument/2006/relationships" id="265" r:id="R2b675d6e4a1b4c7d"/>
    <p:sldId xmlns:r="http://schemas.openxmlformats.org/officeDocument/2006/relationships" id="266" r:id="Rdb871ab4676c431a"/>
    <p:sldId xmlns:r="http://schemas.openxmlformats.org/officeDocument/2006/relationships" id="267" r:id="R65cfda92af0040ad"/>
    <p:sldId xmlns:r="http://schemas.openxmlformats.org/officeDocument/2006/relationships" id="268" r:id="Rfe20338e3d154abd"/>
    <p:sldId xmlns:r="http://schemas.openxmlformats.org/officeDocument/2006/relationships" id="269" r:id="Rbd285b5707144dd9"/>
    <p:sldId xmlns:r="http://schemas.openxmlformats.org/officeDocument/2006/relationships" id="270" r:id="R6175c068378b48de"/>
    <p:sldId xmlns:r="http://schemas.openxmlformats.org/officeDocument/2006/relationships" id="271" r:id="Rd4c381fdcd294001"/>
    <p:sldId xmlns:r="http://schemas.openxmlformats.org/officeDocument/2006/relationships" id="272" r:id="R6e338874ed954c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19d8609ae4a5b" /><Relationship Type="http://schemas.openxmlformats.org/officeDocument/2006/relationships/slideMaster" Target="/ppt/slideMasters/slideMaster1.xml" Id="R422124c27c40423d" /><Relationship Type="http://schemas.openxmlformats.org/officeDocument/2006/relationships/notesMaster" Target="/ppt/notesMasters/notesMaster1.xml" Id="R431825dcb12d41be" /><Relationship Type="http://schemas.openxmlformats.org/officeDocument/2006/relationships/presProps" Target="/ppt/presProps.xml" Id="R3215e3c30acd4027" /><Relationship Type="http://schemas.openxmlformats.org/officeDocument/2006/relationships/tableStyles" Target="/ppt/tableStyles.xml" Id="Rb2d8f1b6722645d5" /><Relationship Type="http://schemas.openxmlformats.org/officeDocument/2006/relationships/slide" Target="/ppt/slides/slide1.xml" Id="R826cf49ba80140ca" /><Relationship Type="http://schemas.openxmlformats.org/officeDocument/2006/relationships/slide" Target="/ppt/slides/slide2.xml" Id="R098ee24751af4144" /><Relationship Type="http://schemas.openxmlformats.org/officeDocument/2006/relationships/slide" Target="/ppt/slides/slide3.xml" Id="R2d3d4dc2f19e464c" /><Relationship Type="http://schemas.openxmlformats.org/officeDocument/2006/relationships/slide" Target="/ppt/slides/slide4.xml" Id="Rad8edbce5f8a44cc" /><Relationship Type="http://schemas.openxmlformats.org/officeDocument/2006/relationships/slide" Target="/ppt/slides/slide5.xml" Id="R144333e7b16c4b5f" /><Relationship Type="http://schemas.openxmlformats.org/officeDocument/2006/relationships/slide" Target="/ppt/slides/slide6.xml" Id="R38453ba16e0c4d63" /><Relationship Type="http://schemas.openxmlformats.org/officeDocument/2006/relationships/slide" Target="/ppt/slides/slide7.xml" Id="R869c1e9624cb4863" /><Relationship Type="http://schemas.openxmlformats.org/officeDocument/2006/relationships/slide" Target="/ppt/slides/slide8.xml" Id="R5a52713d09284655" /><Relationship Type="http://schemas.openxmlformats.org/officeDocument/2006/relationships/slide" Target="/ppt/slides/slide9.xml" Id="R162189a8cbfe4089" /><Relationship Type="http://schemas.openxmlformats.org/officeDocument/2006/relationships/slide" Target="/ppt/slides/slide10.xml" Id="R2b675d6e4a1b4c7d" /><Relationship Type="http://schemas.openxmlformats.org/officeDocument/2006/relationships/slide" Target="/ppt/slides/slide11.xml" Id="Rdb871ab4676c431a" /><Relationship Type="http://schemas.openxmlformats.org/officeDocument/2006/relationships/slide" Target="/ppt/slides/slide12.xml" Id="R65cfda92af0040ad" /><Relationship Type="http://schemas.openxmlformats.org/officeDocument/2006/relationships/slide" Target="/ppt/slides/slide13.xml" Id="Rfe20338e3d154abd" /><Relationship Type="http://schemas.openxmlformats.org/officeDocument/2006/relationships/slide" Target="/ppt/slides/slide14.xml" Id="Rbd285b5707144dd9" /><Relationship Type="http://schemas.openxmlformats.org/officeDocument/2006/relationships/slide" Target="/ppt/slides/slide15.xml" Id="R6175c068378b48de" /><Relationship Type="http://schemas.openxmlformats.org/officeDocument/2006/relationships/slide" Target="/ppt/slides/slide16.xml" Id="Rd4c381fdcd294001" /><Relationship Type="http://schemas.openxmlformats.org/officeDocument/2006/relationships/slide" Target="/ppt/slides/slide17.xml" Id="R6e338874ed954c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a802b19e9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48e7d8aa7f4473" /><Relationship Type="http://schemas.openxmlformats.org/officeDocument/2006/relationships/notesMaster" Target="/ppt/notesMasters/notesMaster1.xml" Id="R6d13838a361b45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97a0065c084c38" /><Relationship Type="http://schemas.openxmlformats.org/officeDocument/2006/relationships/notesMaster" Target="/ppt/notesMasters/notesMaster1.xml" Id="R2c5ded44816043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ee113cc5974a22" /><Relationship Type="http://schemas.openxmlformats.org/officeDocument/2006/relationships/notesMaster" Target="/ppt/notesMasters/notesMaster1.xml" Id="Rb46da852c5784f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c46b7c6064183" /><Relationship Type="http://schemas.openxmlformats.org/officeDocument/2006/relationships/notesMaster" Target="/ppt/notesMasters/notesMaster1.xml" Id="Ra8c70d95942641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7fcf270be741ff" /><Relationship Type="http://schemas.openxmlformats.org/officeDocument/2006/relationships/notesMaster" Target="/ppt/notesMasters/notesMaster1.xml" Id="R7dec152bb10a48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17c9b605284fca" /><Relationship Type="http://schemas.openxmlformats.org/officeDocument/2006/relationships/notesMaster" Target="/ppt/notesMasters/notesMaster1.xml" Id="Rda4cff7a124d42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dad24a76704c57" /><Relationship Type="http://schemas.openxmlformats.org/officeDocument/2006/relationships/notesMaster" Target="/ppt/notesMasters/notesMaster1.xml" Id="R4473874b8d4f45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02d4b651a945b3" /><Relationship Type="http://schemas.openxmlformats.org/officeDocument/2006/relationships/notesMaster" Target="/ppt/notesMasters/notesMaster1.xml" Id="R556b69183e284c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439f378d6e4abc" /><Relationship Type="http://schemas.openxmlformats.org/officeDocument/2006/relationships/notesMaster" Target="/ppt/notesMasters/notesMaster1.xml" Id="R35109058042e49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9bdee15bc41b2" /><Relationship Type="http://schemas.openxmlformats.org/officeDocument/2006/relationships/notesMaster" Target="/ppt/notesMasters/notesMaster1.xml" Id="R3ce13c37a33b47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5127aee1d14253" /><Relationship Type="http://schemas.openxmlformats.org/officeDocument/2006/relationships/notesMaster" Target="/ppt/notesMasters/notesMaster1.xml" Id="Rcfb33a972f434c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6acb9a60954520" /><Relationship Type="http://schemas.openxmlformats.org/officeDocument/2006/relationships/notesMaster" Target="/ppt/notesMasters/notesMaster1.xml" Id="R924cb344223142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4476ece82f4c45" /><Relationship Type="http://schemas.openxmlformats.org/officeDocument/2006/relationships/notesMaster" Target="/ppt/notesMasters/notesMaster1.xml" Id="Rfdd255d801a047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0173d866e3496e" /><Relationship Type="http://schemas.openxmlformats.org/officeDocument/2006/relationships/notesMaster" Target="/ppt/notesMasters/notesMaster1.xml" Id="R417d23adbb8042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efbb043ca54104" /><Relationship Type="http://schemas.openxmlformats.org/officeDocument/2006/relationships/notesMaster" Target="/ppt/notesMasters/notesMaster1.xml" Id="R426eaf2bb8d543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81cbe6bf1c442b" /><Relationship Type="http://schemas.openxmlformats.org/officeDocument/2006/relationships/notesMaster" Target="/ppt/notesMasters/notesMaster1.xml" Id="Readff7a9afa04f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8f67a56bcd4382" /><Relationship Type="http://schemas.openxmlformats.org/officeDocument/2006/relationships/notesMaster" Target="/ppt/notesMasters/notesMaster1.xml" Id="R5e982795471a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12–15 секунд. Мир ускоряется. Если компания внедряет медленнее конкурентов, она теряет скорость, клиентов и позицию на рынке. Future Flow превращает данные склада, магазина и оборудования в действие раньше, чем проблема становится убытком. После этой реплики выдержать короткую паузу и сразу перейти к ежедневным потерям.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Изображение создано ИИ специально для презентации; это концепт, а не фотография действующего объекта. Визуальный стиль вдохновлён современными футуристическими pitch deck: https://slidesgo.com/theme/futuristic-tech-pitch-deck и https://www.behance.net/gallery/250361117/Savant-Brand-Identity-Pitch-Deck-Presentation, просмотрено 03.10.2026.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Вторая реплика, 12–15 секунд. Ручной процесс каждый день съедает прибыль: сотрудники ищут данные, исправляют ошибки, товар лежит без движения, клиент не получает ответ вовремя. Future Flow сокращает эти потери, не сокращая команду. Затем быстро показать четыре источника результата и перейти к процентам.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иллюстративная структура потенциального эффекта, а не прогноз конкретной компании. За сто процентов принят весь ожидаемый эффект пилота. Пример распределения: сорок процентов — сокращение повторной ручной работы, двадцать пять — снижение ошибок и переделок, двадцать — меньше потерянных продаж из-за неактуальных остатков или медленной реакции, пятнадцать — меньше простоев и лишних перемещений. В пилоте эти доли заменяются фактическими измерениями заказчика. Все значения показаны в процентах, без цен и денежных сумм.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предлагаем заменить сотрудников. Мы предлагаем изменить содержание их работы. Сегодня время уходит на поиск данных, перенос сведений, сверку нескольких систем и повторную подготовку документов. После внедрения система собирает контекст, готовит черновик и проверяет обязательные поля. Сотрудник подтверждает решение, общается с клиентом и разбирает исключения. Производительность растёт, а опыт людей становится частью правил и памяти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бизнеса ИИ лучше объяснять без магии. Это набор моделей, правил, сценариев и проверок, который настраивают люди. Мы работаем по утверждённой документации, техническим паспортам и инструкциям заказчика. Гарантия относится к исполнению сценария: каждый обязательный шаг либо выполнен и подтверждён, либо процесс останавливается с указанием отклонения. ИИ не получает права самостоятельно менять регламент, придумывать новые правила или пропускать проверку. Правильность исходной инструкции подтверждает владелец процесса; система обеспечивает её воспроизводимое выполнение в заданных условиях.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программное сердце Future Flow, показанное простым языком. События приходят из магазина, склада, датчиков, документов и запросов сотрудников. Heart наблюдает состояние и свежесть сигналов. Task Manager привязывает задачу к правильному процессу и владельцу. Semantic Memory хранит фразы, контекст, время и происхождение знаний; Human Memory выдаёт только нужную порцию контекста. Analyst и специализированные агенты готовят решение. Jarvice даёт локальные вычисления и модели. Work Agent собирает факты, Autotester проверяет зарегистрированные сценарии, Archivist сохраняет карту и доказательства. Dashboard показывает итог человеку и получает подтверждение.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Локальные источники: [local-source-reviewed]; c_AI_TASK_MANAGER/README.md; c_AI_SEMANTIC_MEMORY/README.md; c_HUMAN_MEMORY/README.md; c_AI_ANALYST/README.md; c_ai_autotester/README.md; c_WORK_AGENT/README.md; c_AI_ARCHIVIST/README.md. Некоторые модули находятся на разных стадиях готовности; слайд описывает целевую интеграционную архитектуру, а не утверждает, что весь контур уже развёрнут у заказчика.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показать разделение ответственности. Владелец процесса утверждает инструкцию и критерии. Task Manager назначает исполнителя. Агент или программа выполняет только свой участок. Work Agent собирает факты выполнения. Autotester и независимый проверяющий подтверждают сценарий. Archivist сохраняет карту, версию и доказательства. Heart сообщает, если сигнал устарел, задача остановилась или подтверждение отсутствует. Dashboard возвращает итог человеку. Такая структура снижает риск, что один и тот же компонент сам себе поставил задачу, сам выполнил и сам объявил успех.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 Memory — не просто архив документов. Она хранит исходные фразы, смысловые признаки, время, автора и происхождение записи. Поиск возвращает не только совпадение, но и причину, почему оно найдено. Human Memory берёт из большого хранилища маленький пакет, который нужен для конкретной задачи, сохраняя ссылки на источники и отмечая, чего не хватает. Это позволяет использовать опыт сотрудников и прошлых операций, не загружая модель всем массивом данных и не превращая найденный текст в автоматическую команду.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[local-source-reviewed] прочитано 03.10.2026. Иллюстрация создана ИИ специально для презентации; это концепт.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партнёра склады и магазины работают одновременно, поэтому автоматизация должна видеть всю цепочку. Заказ клиента проверяется по реальному остатку. Товар резервируется по утверждённому правилу. Склад получает задачу на комплектацию. Магазин видит статус и готовность. Продажа, выдача или возврат оставляют подтверждённый след. Руководитель видит отклонения и показатели. Учётная система остаётся источником истины по товару; Future Flow связывает процессы, людей и оборудование вокруг неё.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инженерный контур команды Future Flow. Панель управления показывает состояние объектов, сервер обрабатывает команды, защищённый канал передаёт их контроллеру, а устройство возвращает подтверждение. На фотографии — экспериментальный стенд Future/IC WDT Tester. Это не означает готовую складскую интеграцию, но подтверждает, что команда уже работает с цепочкой «интерфейс — сервер — контроллер — физическое устройство — обратная связь».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[local-source-reviewed]; [local-source-reviewed]; фото [local-source-reviewed] Состояние исходников и физическая приёмка — разные доказательства.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Экономия начинается с программного контура. Future Flow хранит утверждённый Android-профиль централизованно и подаёт его по PXE через MikroTik.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каждом совместимом компьютере не требуется покупать отдельную коммерческую ОС и устанавливать платный агент удалённого управления. Нужные приложения входят в подготовленный профиль.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не означает, что любое стороннее ПО бесплатно: лицензии выбранных приложений и совместимость оборудования проверяются перед поставкой.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Проект Android_PXE_MikroTik на 4 октября 2026 года подтверждает сборку DeviceTest 1.10 и генерацию пяти PXE-меню. Физическая загрузка Android 13 и текущее состояние RouterOS в этом переносе пока имеют статус NOT_RUN.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CURRENT_STATE.md.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существующий демонстрационный сценарий Future Flow. На рабочем месте оператора используется моноблок; камера даёт обзор подключённого оборудования и считывает QR-коды; внешний модуль передаёт экран и команды выбранного компьютера; аппаратный выключатель позволяет немедленно остановить автоматическое управление. При подключении платёжного оборудования терминал выполняет утверждённый сценарий оплаты. Оператор может подключиться к разрешённому компьютеру, посмотреть его состояние, выполнить разрешённый сброс и наблюдать загрузку. Управляемый компьютер остаётся обычным компьютером, и дополнительная программа управления на него не устанавливается. Наличие оборудования подтверждено владельцем проекта; перед показом фиксируются точная комплектация и проверенный сценарий. Изображение на слайде — визуальный концепт стенда, а не фотография.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адаптировать инженерный контур Future Flow под реселлера. В интерфейсе будут склады, торговые точки, терминалы, датчики и их статусы. Руководитель увидит, где товар, что ожидает подтверждения и где возникло отклонение. Мы не меняли исходные действующие проекты в рамках презентации; это визуальный концепт будущего стенда. Изображение создано ИИ и не является скриншотом действующей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Jarvice — локальный вычислительный центр в офисе или инфраструктуре заказчика. На нём размещаются внутренние сервисы, база знаний и локальные модели ИИ. Графические ускорители подбираются по модели и нагрузке. Управление рабочими процессами может выполняться без подключения к интернету. Для обновлений предусматривается отдельное контролируемое окно с проверкой пакетов и возможностью отката. Такая архитектура снижает внешнюю поверхность риска, но всё равно требует контроля прав, носителей, обновлений и резервного копирования.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продукта: https://ms8at.by/en/jarvice/jarvice.html, просмотрено 03.10.2026. Фото: [local-source-reviewed] Программный [local-source-reviewed] — отдельный экспериментальный контур; не выдавать его за полностью активированный production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Flow собирается как продуктовая система. Retail Terminal — рабочее место продавца. Warehouse Node — локальный узел склада. Sensor Kit фиксирует состояние среды и оборудования. Control Module подключает обычные компьютеры без установки программы управления. Jarvice Core запускает внутренние сервисы и локальные модели. Operator Station даёт человеку единое место наблюдения и вмешательства. Конкретная комплектация каждого продукта фиксируется в спецификации и проверяется перед демонстрацией или поставкой. Изображение — концепт продуктовой линейки.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Производство может быть организовано в Беларуси или Китае. Беларусь подходит для локальной комплектации, настройки, документов и сервиса. Китай даёт масштаб серийного производства; по информации инициатора проекта, партнёрские мощности могут выпускать тысячи компьютеров в день. Эта цифра относится к потенциалу производства, а доступная квота под конкретную модель и партию подтверждается отдельно. Ориентир производства и доставки — около месяца, но срок зависит от состава, объёма, компонентов, логистики и оформления. Денежные цены в презентации не приводятся.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Сайт https://ms8at.by/index.html подтверждает работу с партнёрами и производителями в Беларуси и Китае, просмотрено 03.10.2026. Производственная мощность и срок — информация инициатора проекта, требуют фиксации в договоре.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Закрываем встречу конкретным предложением. Не начинаем со всей сети. Выбираем одну цепочку, например: запрос клиента — проверка остатка — резерв — комплектация — выдача. Сначала фиксируем исходные показатели. Затем настраиваем сценарий, права, оборудование и обучение. После пилота сравниваем скорость, качество, ошибки и число выполненных заказов. Расширение происходит только по подтверждённым процентам. Первый совместный шаг — рабочая встреча с владельцем склада, продаж и учётной системы, чтобы выбрать процесс и критерии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4cad8ebae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9898ceed434e4f" /><Relationship Type="http://schemas.openxmlformats.org/officeDocument/2006/relationships/slideLayout" Target="/ppt/slideLayouts/slideLayout1.xml" Id="R76284f210e63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284f210e63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ec902a2744a67" /><Relationship Type="http://schemas.openxmlformats.org/officeDocument/2006/relationships/image" Target="/ppt/media/image.png" Id="R6cf367bd86f54868" /><Relationship Type="http://schemas.openxmlformats.org/officeDocument/2006/relationships/notesSlide" Target="/ppt/notesSlides/notesSlide1.xml" Id="Raaa033262ba448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ac4bf2e4e4b1f" /><Relationship Type="http://schemas.openxmlformats.org/officeDocument/2006/relationships/notesSlide" Target="/ppt/notesSlides/notesSlide2.xml" Id="R60ee76e30b8e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ab4f83324a05" /><Relationship Type="http://schemas.openxmlformats.org/officeDocument/2006/relationships/chart" Target="/ppt/slides/charts/chart1.xml" Id="R451931b107fa4357" /><Relationship Type="http://schemas.openxmlformats.org/officeDocument/2006/relationships/notesSlide" Target="/ppt/notesSlides/notesSlide3.xml" Id="Rea1e05a328d744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988dd8f1b4bf7" /><Relationship Type="http://schemas.openxmlformats.org/officeDocument/2006/relationships/notesSlide" Target="/ppt/notesSlides/notesSlide4.xml" Id="R868aeb41c956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7bd5b719c4d07" /><Relationship Type="http://schemas.openxmlformats.org/officeDocument/2006/relationships/notesSlide" Target="/ppt/notesSlides/notesSlide5.xml" Id="R606e5f247b9a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594711e404732" /><Relationship Type="http://schemas.openxmlformats.org/officeDocument/2006/relationships/notesSlide" Target="/ppt/notesSlides/notesSlide6.xml" Id="Rde089ba071d548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7d4b640b44939" /><Relationship Type="http://schemas.openxmlformats.org/officeDocument/2006/relationships/notesSlide" Target="/ppt/notesSlides/notesSlide7.xml" Id="R3c770a9313cd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48ddfcff4a18" /><Relationship Type="http://schemas.openxmlformats.org/officeDocument/2006/relationships/image" Target="/ppt/media/image2.png" Id="Rb7fce9ed0c674e82" /><Relationship Type="http://schemas.openxmlformats.org/officeDocument/2006/relationships/notesSlide" Target="/ppt/notesSlides/notesSlide8.xml" Id="R40fe6742b772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5b219259140e3" /><Relationship Type="http://schemas.openxmlformats.org/officeDocument/2006/relationships/notesSlide" Target="/ppt/notesSlides/notesSlide9.xml" Id="R7600f3b485cf4b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e6cb23174eaf" /><Relationship Type="http://schemas.openxmlformats.org/officeDocument/2006/relationships/image" Target="/ppt/media/image3.png" Id="R01472866d3104157" /><Relationship Type="http://schemas.openxmlformats.org/officeDocument/2006/relationships/image" Target="/ppt/media/image.jpeg" Id="R3a9ac22a3fa940a8" /><Relationship Type="http://schemas.openxmlformats.org/officeDocument/2006/relationships/notesSlide" Target="/ppt/notesSlides/notesSlide10.xml" Id="R7e8b373f84f74a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246db3170402c" /><Relationship Type="http://schemas.openxmlformats.org/officeDocument/2006/relationships/notesSlide" Target="/ppt/notesSlides/notesSlide11.xml" Id="R506b341214c443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f53508c9e431f" /><Relationship Type="http://schemas.openxmlformats.org/officeDocument/2006/relationships/image" Target="/ppt/media/image4.png" Id="R96440032084b4ef5" /><Relationship Type="http://schemas.openxmlformats.org/officeDocument/2006/relationships/notesSlide" Target="/ppt/notesSlides/notesSlide12.xml" Id="R1cd1c34387604d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bf7de193e4ed9" /><Relationship Type="http://schemas.openxmlformats.org/officeDocument/2006/relationships/image" Target="/ppt/media/image5.png" Id="R7f6849cb7bff46e3" /><Relationship Type="http://schemas.openxmlformats.org/officeDocument/2006/relationships/notesSlide" Target="/ppt/notesSlides/notesSlide13.xml" Id="R109215b6869649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a88f7e2a349b8" /><Relationship Type="http://schemas.openxmlformats.org/officeDocument/2006/relationships/image" Target="/ppt/media/image.bin" Id="Rdee54004bb3648eb" /><Relationship Type="http://schemas.openxmlformats.org/officeDocument/2006/relationships/notesSlide" Target="/ppt/notesSlides/notesSlide14.xml" Id="R238ab88688524f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607c0c3894bb0" /><Relationship Type="http://schemas.openxmlformats.org/officeDocument/2006/relationships/image" Target="/ppt/media/image6.png" Id="R825c8e75d5b1467e" /><Relationship Type="http://schemas.openxmlformats.org/officeDocument/2006/relationships/notesSlide" Target="/ppt/notesSlides/notesSlide15.xml" Id="R999c9518ffc942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e02fe6984901" /><Relationship Type="http://schemas.openxmlformats.org/officeDocument/2006/relationships/notesSlide" Target="/ppt/notesSlides/notesSlide16.xml" Id="R9091d28c13554c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915f8d4a94d6c" /><Relationship Type="http://schemas.openxmlformats.org/officeDocument/2006/relationships/notesSlide" Target="/ppt/notesSlides/notesSlide17.xml" Id="Re27169db7ef74a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эффекта, %</c:v>
          </c:tx>
          <c:spPr>
            <a:solidFill xmlns:a="http://schemas.openxmlformats.org/drawingml/2006/main">
              <a:srgbClr val="0E947D"/>
            </a:solidFill>
          </c:spPr>
          <c:cat>
            <c:strRef>
              <c:f>'Chart Data'!$A$2:$A$5</c:f>
              <c:strCache>
                <c:ptCount val="4"/>
                <c:pt idx="0">
                  <c:v>Рутинное время</c:v>
                </c:pt>
                <c:pt idx="1">
                  <c:v>Ошибки и переделки</c:v>
                </c:pt>
                <c:pt idx="2">
                  <c:v>Потерянные продажи</c:v>
                </c:pt>
                <c:pt idx="3">
                  <c:v>Простои и логистика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367bd86f548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E14E9-47C7-427F-A901-B00D7269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FUTURE FLOW  •  MS8AT GLOBAL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E6A8A-2FF4-4592-9BCD-9473E0F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52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 вы ждёте,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конкуренты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ускоряются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51F8F-C093-431E-847E-4986424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Future Flow превращает данные в действие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раньше, чем проблема становится убытком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3DAC2-04FB-48EF-A9F7-F45C004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1742067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EE53E-690A-4404-8523-BCDA495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Ручной процесс ежедневно съедает прибыль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02A77-6379-4B0C-954B-84802E36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3B506-69FE-4946-AC96-BCDD24C0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B7BC-A7EE-4020-8022-4D917BB5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ЧЕТЫРЕ БОЛЕВЫЕ ТОЧКИ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34416-7796-4F09-9921-C9EA41D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DE30A-8928-4C0D-A3E7-00CC4FB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Больше продаж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F64F4-8C4D-4E9D-B12D-AA778845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Быстрее ответ клиенту, точнее наличие, меньше потерянных заказов.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4FC9D-8B6B-467A-8DF0-AC60700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8196B-6923-4638-B85E-CA2ACF5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Меньше ошибок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C06D9-8D0A-4232-ACF7-F3A8B98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обязательных шагов до выполнения и подтверждение результата.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C1CC8-BBAD-4596-91EE-9F06CBF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BBF33-CCAD-4CEB-85B6-511148A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Выше оборот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9EB99-6441-47D0-8928-A3A77BBD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Единый контур склада и магазинов помогает быстрее перемещать товар.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D97B0-CA10-4693-9C5D-09C86CF4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667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9645E-AB38-460F-86DF-07FCA20B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Та же команда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A109C-CE47-407E-8517-CA876C8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Рутинные операции передаются системе, сотрудники работают с клиентом.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F7105-2CC2-4CCF-9331-6D1AFDA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Главная цель: больше выполненной работы и выше качество — без замены команды.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AF408-5784-44ED-A253-5830B32D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C7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C7D7"/>
                </a:solidFill>
                <a:latin typeface="Arial"/>
                <a:ea typeface="Arial"/>
                <a:cs typeface="Arial"/>
              </a:rPr>
              <a:t>Результат пилота измеряется по фактическим данным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522082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7F4C8-FF3E-4717-A268-BC13F8D2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Откуда появляется экономический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117AB-7A23-4B8E-BBF1-AA438DC5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6B5A4-F2D0-4A59-9B99-DA4CE65F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555E-E68B-4AE5-8B23-1C80A17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ИЛЛЮСТРАТИВНАЯ МОДЕЛЬ: 100% ПОТЕНЦИАЛЬНОГО ЭФФЕКТА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1931b107fa435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471F-531C-4F32-AF6B-AFC29EE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Доля эффекта,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81F40-3DB8-4611-9C0D-D6E4145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147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2A154-1354-4BBC-BC60-DB29D9D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03A07-C74F-4843-A81D-96E1DD5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весь эффект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B9B7F-AC28-4250-9F07-4C52F125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После замера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проценты заменяются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фактическими данными.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72AAE-83CB-4320-BC3D-2CBF99A0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331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Эффект считается только после вычета новых расходов на поддержку и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133272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799BE-C4B2-44CC-A119-5EFE82E3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 же команда. Больше выполненной работы.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24BF6-1EF1-43D3-8E0D-12025528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4557D-218D-4964-ACBD-A3C5DB5F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6E4DE-446D-417C-A176-29D59A37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DB8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B8C7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5CE39-AB70-4335-B40C-E0E92564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После внедрения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11D13-C357-458C-A5CB-33D1894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286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информации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Перенос данных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Ручная сверка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Повторные документы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D22A8-AD79-4CB7-942C-3A9A99B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52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B52B0-6A88-498A-BFE7-7F075DF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решения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клиентом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исключениями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Улучшение процесса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CAB64-E2B0-4A61-AE4B-F617FEFB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D2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D2DE"/>
                </a:solidFill>
                <a:latin typeface="Arial"/>
                <a:ea typeface="Arial"/>
                <a:cs typeface="Arial"/>
              </a:rPr>
              <a:t>Опыт сотрудников не исчезает — он превращается в регламент, память и контроль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404227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8BC2D-88FB-45BF-8801-8A816B9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ИИ — управляемый сценарий, а не магия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2AF26-ECF0-496E-85E1-1942B51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A0BFB-9135-44FD-9AFD-B86931A9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1DCA-1572-4DA1-9FF5-01EAAE7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100% ОБЯЗАТЕЛЬНЫХ ШАГОВ ПОД КОНТРОЛЕМ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7B368-52E5-4578-B3EB-8140127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830BF-427B-40A5-A7CB-94811395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Документация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EB4E0-C574-4F21-A11F-CB92507A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Инструкции, паспорта, регламенты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8329E-8DC2-4FD0-BC57-C06876F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F80C3-AF22-4099-925E-F0DAF3CC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93F90-CA18-42AE-83B2-C3463A7A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5755E-57B2-407B-85BD-E9B3D34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Правила, роли, запреты,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79ABC-20AF-4DF0-854D-C943BA56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F003C-6AA3-41C4-8E0D-91A8987E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D3931-AC79-490B-A53B-B3F9ED1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87DF6-F208-4CF0-8D44-BDB0F645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Только разрешённые 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D8382-1A2F-4DA4-8F0A-541C08E7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2B161-A374-4BB7-807D-2C08BE2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45157-5EF3-4B50-B0D0-3C325C0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CC03D-838F-40F6-AE02-FBB81EDE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Фактический результат и след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80977-B474-47B7-BD6A-561BCAD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1010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0E288-FAFC-4880-B4D8-22A961E7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040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Если шаг нельзя подтвердить — система останавливается и сообщает об отклонении.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22580-AF6F-4903-ADCF-0EF0B47D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ИИ анализирует и предлагает. Регламент и контроль определяют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469053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CF63DE-3B9C-4859-90A2-49A22F7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Программное сердце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D2013-EED8-43A3-AA78-8432D4D2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0FB71-86E5-45D1-92AF-0FC66090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44C2C-1E1F-40C8-8050-FA19DAD9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ОДИН ПУТЬ ОТ СИГНАЛА ДО ПОДТВЕРЖДЁННОГО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E1DFF-6953-45B0-92E1-B04BB5C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FD2B4-12DB-484A-98F6-72F9B92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D73CB-483D-45CB-B2CE-B7B67E05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магазин • склад • датчики • документы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2ED20-150F-4F7E-AC7B-F98E32B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97D71-5D7B-49CF-BAED-88631C30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D5FC1-842D-4C17-B1DB-5589D213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Heart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31C3B-A660-4DB0-8CBE-DDF4743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наблюдает состояние и свежесть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F5144-9B92-4E49-897A-904D6FC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AFC2C-2A13-4A36-AA46-8B1A8831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95450"/>
            <a:ext cx="4000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7F36D-88D7-4395-93F2-A7CF60E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0F3BA-9B74-49B5-B11A-3028FC46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назначает владельца и маршрут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48CE8-3CAE-4370-BB76-C3721693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06F5E-990F-48C5-AFDB-2A876D1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21609-7BB9-4DCC-9F35-C5FA8F7B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контекст • время • происхождение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5425D-50D6-4125-9E59-5A51667E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A190F-7D8A-493B-ABEB-7A378C51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AB9C4-C401-4E73-8722-2FF365CB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Analyst + агенты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3127D-BEC7-4A9A-9FAD-DCBC2CC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готовят решение по правилам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2AA04-C4CE-4A5D-AC6D-FCD618E3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30F0C-4E3E-4B21-AE99-E5CB169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77C3A-39B7-48D9-833B-6DEBD944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Jarvice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CE69C-C5BE-40D2-861B-25B25D3B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локальные модели и вычисления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006F4-2BF9-41FB-BA0C-ECB764C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E9ACA-EE19-4109-8798-92D52B26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16A05-69AE-44D8-8CDC-1BDF8045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факты • тесты • независимая проверка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110B3-1D67-4BE8-8ECA-B1A70D6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1CD2F-E717-4ABE-BEDC-8044387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EDFC1C-D8A5-46A2-8DC7-B340FD1B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01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Archivist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E32B6-14E9-4C1B-BCC6-34733734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карта • история • доказательства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090A3-022D-429F-B1A9-2997EDC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F3E98A-78D6-4A69-B746-10B04E3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657EA-D60D-487D-993B-8C0B3065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Dashboard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F94B1B-C78D-4467-8697-2B5F3A5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решение • подтверждение • контроль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81D14C-111E-45B1-A4BF-038A6CC8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CBD7"/>
                </a:solidFill>
                <a:latin typeface="Arial"/>
                <a:ea typeface="Arial"/>
                <a:cs typeface="Arial"/>
              </a:rPr>
              <a:t>Каждый модуль отвечает за свою роль; права и проверки не смешиваются.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883832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8D8AE-3EF9-4671-8E6A-B9BB5493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Кто назначает, выполняет, проверяет и архивирует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DA9D3-45B2-4A30-8D5C-68F1654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265CB-FA4E-41E9-A1E2-94948D96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686F9-E93A-4950-B89F-E3101DD1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7AC86-854E-44B5-A503-4580F96B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67F0-658E-43CE-BBFA-A20709EA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E3219-CA1F-40F8-81A1-A22A22E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Владелец процесса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87CCE-90AB-49D4-9470-918F52C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Утверждает инструкцию и критерии результата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9A7ED-EA8F-4B32-9CE8-BD4F51E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F1D6D-788D-44E6-979A-536E633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91EB5-6929-4142-A0F1-11138C1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E2A6-4A4B-449F-B098-6D16386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5592E-7940-4152-8B5E-47BD3F46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Назначает точный маршрут и ответственного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9737B-4841-4516-99DA-10D2D4E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E8282-11D9-4FB9-AFF5-9DA2D6B8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47D"/>
          </a:solidFill>
          <a:ln xmlns:a="http://schemas.openxmlformats.org/drawingml/2006/main" w="9525">
            <a:solidFill>
              <a:srgbClr val="0E94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D160-3DFB-4128-A093-D16F5AAD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0704B-5E49-4F03-AD0E-38824EA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99BE0-0E51-4E36-81E6-5C984935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Выполняет только свой разрешённый участок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66287-CBF2-4767-A0E8-186563D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1687E-2DFA-4641-A69B-5130EF3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30CC9-D79E-492C-9A12-E23F736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6CF1D-70C3-43FC-87AD-9F28F766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FB364-F44B-4F60-9B3E-0C2B7D05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Собирают факты и проверяют сценарий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61CE5-05D3-45EB-B2BA-850D48C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ED971-1532-4835-A68D-3ED4C8D4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83FF0-BBDB-4FC4-A5A6-853071E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6B165-50FE-4A0F-BA93-9117D414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Archivist + Heart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3C201-A710-4F51-9216-BC8647C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Хранят след и сообщают об отклонении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CDCB5-6027-4B3C-B773-D1846DE9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0A6606-35B4-4D5F-B3EA-A69204E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B"/>
          </a:solidFill>
          <a:ln xmlns:a="http://schemas.openxmlformats.org/drawingml/2006/main" w="9525">
            <a:solidFill>
              <a:srgbClr val="1328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57247-AFE6-445E-ADE2-C26AB88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0D47F6-38ED-414D-99C5-8A22D52A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Человек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65AF88-C6FA-4737-ABB8-2E8B9869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Принимает итог и разрешает значимое действие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539489-BD79-4D72-A752-D91FF463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Один компонент не может сам поставить себе задачу, выполнить её и объявить успех.</a:t>
            </a:r>
          </a:p>
        </p:txBody>
      </p:sp>
    </p:spTree>
    <p:extLst>
      <p:ext uri="{BB962C8B-B14F-4D97-AF65-F5344CB8AC3E}">
        <p14:creationId xmlns:p14="http://schemas.microsoft.com/office/powerpoint/2010/main" val="1055901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AA5A1-EB7C-4BFA-AD28-C9DEDFA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85725-D99F-41C5-AF56-2AF41D78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ce9ed0c674e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7C9BB-D6F2-4479-934B-A97FB82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6994-E8E5-4197-AB76-09754264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помнит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только факт,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 и его 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16FF6-E927-400D-A9D8-79F252D2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39433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источник и автор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время и версия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связь с задачей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подтверждённый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0AED6-4650-4743-96CF-684D715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Найденное знание — данные для решения, а не команда к действию.</a:t>
            </a:r>
          </a:p>
        </p:txBody>
      </p:sp>
    </p:spTree>
    <p:extLst>
      <p:ext uri="{BB962C8B-B14F-4D97-AF65-F5344CB8AC3E}">
        <p14:creationId xmlns:p14="http://schemas.microsoft.com/office/powerpoint/2010/main" val="427221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BAA90-1878-49DF-AF66-88AE1C53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Склад и торговые точки — один 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A3B06-9C7F-49D8-A75A-3261884B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15FB8-253C-43E3-8DF9-4061738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6EAF7-F678-486F-9610-F235D49F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ОТ ЗАПРОСА КЛИЕНТА ДО ПОДТВЕРЖДЁННОЙ ВЫДАЧИ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680D0-7730-4495-9776-C487E6FA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0EE00-D475-47A3-B327-D02B9FA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613BE-84A8-437F-BD1B-1A45724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клиент или магазин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073E-C7B5-4ED7-A96E-C3C0E1D1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5021B-A764-462A-B8CA-8BBF4D93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19FC3-9C32-4C39-A25E-77C6EE4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Остаток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3746E-3BDA-45B8-87CB-572DF5D5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и резерв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36849-B434-49FB-839B-AEB66BD4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BBC1F-C55B-44F6-B867-688F29D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E55FD-5EB2-46D4-ACCC-148C9A8E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BF62E-9093-4558-8AA8-3377DE90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сборка и перемещение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941B1-9FBE-4DF8-B6F4-7DCA311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403CF-8C18-429C-B70B-28F34121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BBEE8-A962-41EE-885C-4DCC467F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Продажа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50F8D-FD66-4857-A2AA-2377FC7A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терминал и документы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E2494-FDF7-42D0-8E80-9C83247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566FA-671A-4A3B-94E6-A8FD4C8E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3B9F9-255E-4972-BC7E-0257D1A4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3C50A-6DDC-42FA-B108-4720B444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выдача, возврат, история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27506-3EE0-4696-9B4B-1DB2B13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Единые статусы • актуальные остатки • история движения • контроль исключений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380F7-8D65-47AA-85AF-208B1823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BD7"/>
                </a:solidFill>
                <a:latin typeface="Arial"/>
                <a:ea typeface="Arial"/>
                <a:cs typeface="Arial"/>
              </a:rPr>
              <a:t>Сотрудник управляет исключениями; система исполняет повторяемые шаги.</a:t>
            </a:r>
          </a:p>
        </p:txBody>
      </p:sp>
    </p:spTree>
    <p:extLst>
      <p:ext uri="{BB962C8B-B14F-4D97-AF65-F5344CB8AC3E}">
        <p14:creationId xmlns:p14="http://schemas.microsoft.com/office/powerpoint/2010/main" val="1782054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5D07B-096A-44DD-91AD-3DE8302C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Реальный кейс: программный контур управляет оборудованием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026B7-B90B-40F5-AC65-6A92467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96844-D163-41C0-B2F7-C36A219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72866d3104157"/>
          <a:stretch xmlns:a="http://schemas.openxmlformats.org/drawingml/2006/main"/>
        </p:blipFill>
        <p:spPr>
          <a:xfrm xmlns:a="http://schemas.openxmlformats.org/drawingml/2006/main">
            <a:off x="1024467" y="1476375"/>
            <a:ext cx="5418667" cy="3810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c22a3fa940a8"/>
          <a:srcRect xmlns:a="http://schemas.openxmlformats.org/drawingml/2006/main" l="0" t="24618" r="0" b="2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76375"/>
            <a:ext cx="4362450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81310-7377-4842-8A99-1C50A0B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Dashboard → сервер → MQTT → контроллер → подтверждение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3FC34-10C3-4187-A986-29011DCE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Фото стенда подтверждает инженерную базу; складской пилот требует отдельной адаптации.</a:t>
            </a:r>
          </a:p>
        </p:txBody>
      </p:sp>
    </p:spTree>
    <p:extLst>
      <p:ext uri="{BB962C8B-B14F-4D97-AF65-F5344CB8AC3E}">
        <p14:creationId xmlns:p14="http://schemas.microsoft.com/office/powerpoint/2010/main" val="414065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14897F-EA95-4231-8B24-AF19E04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Обычный компьютер без дорогого софта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3FAEC-F42F-46A9-AFCF-290ACE7F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2BF94-2F28-4B73-BD74-FDC88336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17026-D5B6-4480-9F0A-4E5B91C4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УПРАВЛЕНИЕ И ЗАГРУЗКА ПО ЛОКАЛЬНОЙ СЕТИ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84754-8A2F-4254-B97B-A9D0E53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1431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84421-1CF1-4327-AFF0-0628F51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7B5A2-FD76-4B0E-B31B-F85E280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0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Работает сам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или принимает помощь 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717A0-1021-46E0-8C49-A1F882C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07D27-2978-46AC-A646-E5F826C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33600"/>
            <a:ext cx="23336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F681E-31B1-48A6-8378-7FEA634B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669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Обычный ПК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DE3F4-206C-4553-AADB-A3B945D2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19907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Без покупки коммерческой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ОС для каждого узла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8774F-8831-4D12-B861-601D6E39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2371B-9AFC-4F69-A562-D722FA4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33600"/>
            <a:ext cx="2571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76F24-7215-49E8-B09E-78C93B1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PXE + Android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46C25-9D9D-4BD0-B16C-4B3FFEA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Среда и приложения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загружаются по сети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ABF91-D5A3-48A2-A220-FA0C1E6E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7EB17-A998-483C-B934-5873E08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762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10EFC-3DA1-45C8-A8FB-40ADA16E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Future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9FA97-3AA6-4387-80B2-BA29B0D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419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Исполняет сценарий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 ведёт журнал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A0C67-5B95-45C3-AEEE-C0B7888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1010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98CDA-77EF-437A-BD7F-B1A2918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Коммерческая ОС и платный агент управления не нужны на каждом компьютере.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F6282-5E24-4A57-8E19-DEFC5BF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Лицензии приложений и совместимость проверяются для выбранной комплектации.</a:t>
            </a:r>
          </a:p>
        </p:txBody>
      </p:sp>
    </p:spTree>
    <p:extLst>
      <p:ext uri="{BB962C8B-B14F-4D97-AF65-F5344CB8AC3E}">
        <p14:creationId xmlns:p14="http://schemas.microsoft.com/office/powerpoint/2010/main" val="2039874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CE622-7D2A-46F3-A5E2-C2F5AC3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Реальный стенд Future Flow Operator Station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813F5-4DAD-4767-AE65-C57AB89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582DA-4B6D-4C51-8CD7-9E29812B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0032084b4ef5"/>
          <a:srcRect xmlns:a="http://schemas.openxmlformats.org/drawingml/2006/main" l="12236" t="0" r="122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52550"/>
            <a:ext cx="5905500" cy="440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DEE43-BBC9-4684-A518-E486A7B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71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ОПЕРАТОР УПРАВЛЯЕТ И НАБЛЮДАЕТ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47C74-46AB-4DDF-B755-6953A76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0500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7B933-652A-4F6B-8E71-BE8F85D4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A6381-E173-409B-86C0-F5D9ECCC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24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BE3F1-7A07-4289-B071-60999E99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Выбрать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812DF-A63D-403F-BAB2-7AD59132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764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нужный компьютер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5308-A15D-43F0-9A44-F841B24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4797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351F9-3431-4B9C-A039-0E1690A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59866-ED9B-46C2-9FA9-ADEE6855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5A2F-74B6-4932-B17E-AD207E50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3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Подключиться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FF4D9-5DBB-443B-B533-21E802EA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увидеть экран и состояние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FAB6E-D4C9-4164-87A5-0D0851A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541E8-BC5D-4EC8-A257-6C5557F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71535-9635-4EC1-8EF4-16AE38F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01EF8-4562-4E39-A4CA-E9E200B6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Сбросить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1E68F-86D1-4FC9-ADBF-E776E14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2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только по разрешённому сценарию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7EA7B-5254-4F1B-B785-F6F5F7D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3392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F29C3-BC0C-4467-8244-7BECEAC2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48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39301-EC39-4EEE-90E9-F278B4E9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E1F3A-E944-4305-A7DE-4AD7806A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29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F6524-A265-4D79-845F-B94F177C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наблюдать запуск и результат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9B5B8-1DCC-40B2-A44B-5DEFEEA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Камера: QR • терминал: оплата • выключатель: человек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7F5C9-2B2F-4664-9FA0-CEA5B35F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626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Аппаратное отключение возвращает управление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19498281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6C706-91A7-4889-91E0-BC1C6E4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будет выглядеть адаптация для реселлера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DDFC-733E-4502-872F-828B211F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BD866-2582-4B4B-9E31-6675748D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849cb7bff46e3"/>
          <a:stretch xmlns:a="http://schemas.openxmlformats.org/drawingml/2006/main"/>
        </p:blipFill>
        <p:spPr>
          <a:xfrm xmlns:a="http://schemas.openxmlformats.org/drawingml/2006/main">
            <a:off x="2330335" y="1295400"/>
            <a:ext cx="7531329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F0B64-CEAA-4745-9607-84AD8EAA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Склады • магазины • терминалы • датчики • единые статусы</a:t>
            </a:r>
          </a:p>
        </p:txBody>
      </p:sp>
    </p:spTree>
    <p:extLst>
      <p:ext uri="{BB962C8B-B14F-4D97-AF65-F5344CB8AC3E}">
        <p14:creationId xmlns:p14="http://schemas.microsoft.com/office/powerpoint/2010/main" val="1254214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1842F-E831-4022-AD6F-02EE627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Jarvice: локальный ИИ внутри вашего контура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18451-C890-4C31-AF82-8DC7B233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6B794-A002-4D74-869E-2500D722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54004bb3648eb"/>
          <a:stretch xmlns:a="http://schemas.openxmlformats.org/drawingml/2006/main"/>
        </p:blipFill>
        <p:spPr>
          <a:xfrm xmlns:a="http://schemas.openxmlformats.org/drawingml/2006/main">
            <a:off x="7758113" y="1352550"/>
            <a:ext cx="3057525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F17E8-C760-4491-9065-84E0950B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Рабочий 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ED373-060E-4E43-A4E5-E435E73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интернета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Внутренние данные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Локальные модели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процессами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1988C-A162-439D-8CF6-2BA51496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Окно обновления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D9493-9A7D-4E2A-91C7-99DB751A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Подключение разрешается отдельно:</a:t>
            </a:r>
          </a:p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проверка → обновление → отключение.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12648291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06231-008B-4C1E-8C35-D548B5F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Шесть продуктов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0E97F-C314-48BE-88D9-9A73D8A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BBD7A-4E1D-458B-9AE1-1BC61280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c8e75d5b1467e"/>
          <a:srcRect xmlns:a="http://schemas.openxmlformats.org/drawingml/2006/main" l="14981" t="0" r="14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33500"/>
            <a:ext cx="5334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256A1-2C47-4C83-A557-767B5C0E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6A9D-DEA0-477F-9A71-4CAA437D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95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D3700-3677-4EF0-9337-730EEB48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Retail 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A2F3B-1C8B-4E04-B32F-7F789359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QR-сканер • продажа • оплата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0DEB8-5612-4017-AFFD-F29FF8A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F8D97-8F47-40B2-B03D-E945BC2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29137-9E59-451A-B983-B4F37CF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Warehouse 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9B55D-64A4-47B1-96BD-C6E549D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склад • статусы • локальная обработка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9D736-3627-4266-9A53-0CDFA54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7A174-213A-4A4B-ACB7-7A2E79D5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6B272-9DD0-4C8C-986E-A795D9C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Sensor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510B5-D768-4225-A78E-00CA5E4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температура • дверь • движение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8B061-84C9-435B-8B82-EB867C38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5B05F-2029-4747-A00D-CB6B153A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B022A-ECF4-4588-8A56-512C963E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Control Module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E1CFD-4A8C-4212-BA24-E2DF84B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экран • команды • без установки софта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10FA1-FB95-4ABB-A10D-78214DA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5AF7F-C7CB-40B8-90E3-DDB9A617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6DD7B-8EE3-451B-AFC2-4BBEA18B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Jarvice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44143-8596-45C1-9F7C-F37411A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локальные сервисы • модели 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0AC24-8C35-4A78-BB32-1EEC9A8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4E05E-1AAD-463C-B6CE-4120A64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172F7-2F77-43AF-A764-A80E5872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Operator Station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9D1FE-6167-4EDA-8A78-081717B5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обзор • подключение • контроль</a:t>
            </a:r>
          </a:p>
        </p:txBody>
      </p:sp>
    </p:spTree>
    <p:extLst>
      <p:ext uri="{BB962C8B-B14F-4D97-AF65-F5344CB8AC3E}">
        <p14:creationId xmlns:p14="http://schemas.microsoft.com/office/powerpoint/2010/main" val="372663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13598-AE5A-456B-8088-4C7B7346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Производство и масштабирование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2E10E-2411-4431-80E7-B481C65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1EBD8-AA84-42CC-A8D7-D6D0711B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7A445-5877-43B5-9922-935515AB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048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C33FC-4103-4743-AD46-A4902634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Беларусь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12637-9806-42A3-B0D0-8455A266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705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Локальная комплектация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Настройка под процесс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Документы и сервис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DDCD9-9158-49AC-9000-0FB2285D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56197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3A575-3895-43EF-B0B4-EB4CA568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Китай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65515-8669-424F-BEC4-A7EE2FA1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276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Серийное производство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Партнёрские мощности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 крупных партий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7446C-78F5-435B-BBDB-45DA17D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производства и доставки — около месяца*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7854E-E39E-4ECA-A93C-8ED2693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C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C7D5"/>
                </a:solidFill>
                <a:latin typeface="Arial"/>
                <a:ea typeface="Arial"/>
                <a:cs typeface="Arial"/>
              </a:rPr>
              <a:t>* Срок и доступная мощность подтверждаются для конкретной спецификации и партии.</a:t>
            </a:r>
          </a:p>
        </p:txBody>
      </p:sp>
    </p:spTree>
    <p:extLst>
      <p:ext uri="{BB962C8B-B14F-4D97-AF65-F5344CB8AC3E}">
        <p14:creationId xmlns:p14="http://schemas.microsoft.com/office/powerpoint/2010/main" val="20031695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56478-ED30-41B4-BF65-B74B217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ПЕРВЫЙ СОВМЕСТНЫЙ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CF8FD-C8A5-4343-AF87-505D001A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процесс.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измеримый пилот.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по цифрам.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2E9C-0A8B-4E47-9933-5E7A81A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97F74-F26E-44B6-A32E-19BA6B96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1 • Замер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1D0F0-B873-4152-B792-7D0076B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время • ошибки • объём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3A58B-A206-43A6-B2AF-6C8A60A2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A9021-BBA3-4733-9BE4-BD68E727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2 •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307E3-0E42-485A-AFD9-87029B3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сценарий • техника • обучение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39671-5E43-49AC-8E04-9FDDEC3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F2B69-352B-4AF6-8766-A95E0EFD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3 • 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E00FF-7E32-4E21-9D65-F2CA6A5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масштабировать • доработать • остановить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06CF2-6175-45A5-A998-0BF52234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456342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2026-10-03T20:31:11.7880000Z</dcterms:created>
  <dcterms:modified xsi:type="dcterms:W3CDTF">2026-10-03T20:31:11.7880000Z</dcterms:modified>
</coreProperties>
</file>